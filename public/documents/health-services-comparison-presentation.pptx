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8" r:id="rId2"/>
    <p:sldId id="274" r:id="rId3"/>
    <p:sldId id="275" r:id="rId4"/>
    <p:sldId id="276" r:id="rId5"/>
    <p:sldId id="270" r:id="rId6"/>
    <p:sldId id="256" r:id="rId7"/>
    <p:sldId id="262" r:id="rId8"/>
    <p:sldId id="261" r:id="rId9"/>
    <p:sldId id="260" r:id="rId10"/>
    <p:sldId id="259" r:id="rId11"/>
    <p:sldId id="258" r:id="rId12"/>
    <p:sldId id="277" r:id="rId13"/>
    <p:sldId id="263" r:id="rId14"/>
    <p:sldId id="266" r:id="rId15"/>
    <p:sldId id="269" r:id="rId16"/>
    <p:sldId id="267" r:id="rId17"/>
    <p:sldId id="268"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B57AE63-79E2-4D64-AC31-81157DBB7A56}" type="datetimeFigureOut">
              <a:rPr lang="he-IL" smtClean="0"/>
              <a:t>י'/אייר/תשפ"ה</a:t>
            </a:fld>
            <a:endParaRPr lang="he-IL"/>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8264688C-FAD8-4813-9DDB-A7349DDFC131}" type="slidenum">
              <a:rPr lang="he-IL" smtClean="0"/>
              <a:t>‹#›</a:t>
            </a:fld>
            <a:endParaRPr lang="he-IL"/>
          </a:p>
        </p:txBody>
      </p:sp>
    </p:spTree>
    <p:extLst>
      <p:ext uri="{BB962C8B-B14F-4D97-AF65-F5344CB8AC3E}">
        <p14:creationId xmlns:p14="http://schemas.microsoft.com/office/powerpoint/2010/main" val="2362671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D11B06D-DD67-476D-9FA0-4EC8596F5CDA}" type="datetime1">
              <a:rPr lang="en-US" smtClean="0"/>
              <a:t>5/8/2025</a:t>
            </a:fld>
            <a:endParaRPr lang="en-US"/>
          </a:p>
        </p:txBody>
      </p:sp>
      <p:sp>
        <p:nvSpPr>
          <p:cNvPr id="5" name="Footer Placeholder 4"/>
          <p:cNvSpPr>
            <a:spLocks noGrp="1"/>
          </p:cNvSpPr>
          <p:nvPr>
            <p:ph type="ftr" sz="quarter" idx="11"/>
          </p:nvPr>
        </p:nvSpPr>
        <p:spPr/>
        <p:txBody>
          <a:bodyPr/>
          <a:lstStyle/>
          <a:p>
            <a:r>
              <a:rPr lang="he-IL"/>
              <a:t>טיוטה-לא להפצה</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58FD62-9C68-4D5D-AE45-863F9FB92388}" type="datetime1">
              <a:rPr lang="en-US" smtClean="0"/>
              <a:t>5/8/2025</a:t>
            </a:fld>
            <a:endParaRPr lang="en-US"/>
          </a:p>
        </p:txBody>
      </p:sp>
      <p:sp>
        <p:nvSpPr>
          <p:cNvPr id="5" name="Footer Placeholder 4"/>
          <p:cNvSpPr>
            <a:spLocks noGrp="1"/>
          </p:cNvSpPr>
          <p:nvPr>
            <p:ph type="ftr" sz="quarter" idx="11"/>
          </p:nvPr>
        </p:nvSpPr>
        <p:spPr/>
        <p:txBody>
          <a:bodyPr/>
          <a:lstStyle/>
          <a:p>
            <a:r>
              <a:rPr lang="he-IL"/>
              <a:t>טיוטה-לא להפצה</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BA8A8C-ECFD-412E-9B33-40EE903A9668}" type="datetime1">
              <a:rPr lang="en-US" smtClean="0"/>
              <a:t>5/8/2025</a:t>
            </a:fld>
            <a:endParaRPr lang="en-US"/>
          </a:p>
        </p:txBody>
      </p:sp>
      <p:sp>
        <p:nvSpPr>
          <p:cNvPr id="5" name="Footer Placeholder 4"/>
          <p:cNvSpPr>
            <a:spLocks noGrp="1"/>
          </p:cNvSpPr>
          <p:nvPr>
            <p:ph type="ftr" sz="quarter" idx="11"/>
          </p:nvPr>
        </p:nvSpPr>
        <p:spPr/>
        <p:txBody>
          <a:bodyPr/>
          <a:lstStyle/>
          <a:p>
            <a:r>
              <a:rPr lang="he-IL"/>
              <a:t>טיוטה-לא להפצה</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CACCDD-E16C-4EA1-A615-9749096C1FA4}" type="datetime1">
              <a:rPr lang="en-US" smtClean="0"/>
              <a:t>5/8/2025</a:t>
            </a:fld>
            <a:endParaRPr lang="en-US"/>
          </a:p>
        </p:txBody>
      </p:sp>
      <p:sp>
        <p:nvSpPr>
          <p:cNvPr id="6" name="Footer Placeholder 5"/>
          <p:cNvSpPr>
            <a:spLocks noGrp="1"/>
          </p:cNvSpPr>
          <p:nvPr>
            <p:ph type="ftr" sz="quarter" idx="11"/>
          </p:nvPr>
        </p:nvSpPr>
        <p:spPr/>
        <p:txBody>
          <a:bodyPr/>
          <a:lstStyle/>
          <a:p>
            <a:r>
              <a:rPr lang="he-IL"/>
              <a:t>טיוטה-לא להפצה</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A2B201-3CF3-4865-B426-13AC5A0F3AA6}" type="datetime1">
              <a:rPr lang="en-US" smtClean="0"/>
              <a:t>5/8/2025</a:t>
            </a:fld>
            <a:endParaRPr lang="en-US"/>
          </a:p>
        </p:txBody>
      </p:sp>
      <p:sp>
        <p:nvSpPr>
          <p:cNvPr id="8" name="Footer Placeholder 7"/>
          <p:cNvSpPr>
            <a:spLocks noGrp="1"/>
          </p:cNvSpPr>
          <p:nvPr>
            <p:ph type="ftr" sz="quarter" idx="11"/>
          </p:nvPr>
        </p:nvSpPr>
        <p:spPr/>
        <p:txBody>
          <a:bodyPr/>
          <a:lstStyle/>
          <a:p>
            <a:r>
              <a:rPr lang="he-IL"/>
              <a:t>טיוטה-לא להפצה</a:t>
            </a:r>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8CF1E8-2947-41E9-964A-C0FC79AC8B2E}" type="datetime1">
              <a:rPr lang="en-US" smtClean="0"/>
              <a:t>5/8/2025</a:t>
            </a:fld>
            <a:endParaRPr lang="en-US"/>
          </a:p>
        </p:txBody>
      </p:sp>
      <p:sp>
        <p:nvSpPr>
          <p:cNvPr id="4" name="Footer Placeholder 3"/>
          <p:cNvSpPr>
            <a:spLocks noGrp="1"/>
          </p:cNvSpPr>
          <p:nvPr>
            <p:ph type="ftr" sz="quarter" idx="11"/>
          </p:nvPr>
        </p:nvSpPr>
        <p:spPr/>
        <p:txBody>
          <a:bodyPr/>
          <a:lstStyle/>
          <a:p>
            <a:r>
              <a:rPr lang="he-IL"/>
              <a:t>טיוטה-לא להפצה</a:t>
            </a:r>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8D76FB-ABDB-4A6F-865D-CA50444EE1AD}" type="datetime1">
              <a:rPr lang="en-US" smtClean="0"/>
              <a:t>5/8/2025</a:t>
            </a:fld>
            <a:endParaRPr lang="en-US"/>
          </a:p>
        </p:txBody>
      </p:sp>
      <p:sp>
        <p:nvSpPr>
          <p:cNvPr id="3" name="Footer Placeholder 2"/>
          <p:cNvSpPr>
            <a:spLocks noGrp="1"/>
          </p:cNvSpPr>
          <p:nvPr>
            <p:ph type="ftr" sz="quarter" idx="11"/>
          </p:nvPr>
        </p:nvSpPr>
        <p:spPr/>
        <p:txBody>
          <a:bodyPr/>
          <a:lstStyle/>
          <a:p>
            <a:r>
              <a:rPr lang="he-IL"/>
              <a:t>טיוטה-לא להפצה</a:t>
            </a:r>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7B0BB1-DB3B-4431-B076-DD714078B3CA}" type="datetime1">
              <a:rPr lang="en-US" smtClean="0"/>
              <a:t>5/8/2025</a:t>
            </a:fld>
            <a:endParaRPr lang="en-US"/>
          </a:p>
        </p:txBody>
      </p:sp>
      <p:sp>
        <p:nvSpPr>
          <p:cNvPr id="6" name="Footer Placeholder 5"/>
          <p:cNvSpPr>
            <a:spLocks noGrp="1"/>
          </p:cNvSpPr>
          <p:nvPr>
            <p:ph type="ftr" sz="quarter" idx="11"/>
          </p:nvPr>
        </p:nvSpPr>
        <p:spPr/>
        <p:txBody>
          <a:bodyPr/>
          <a:lstStyle/>
          <a:p>
            <a:r>
              <a:rPr lang="he-IL"/>
              <a:t>טיוטה-לא להפצה</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968A96-61A9-415F-9A6E-86329A80ADB5}" type="datetime1">
              <a:rPr lang="en-US" smtClean="0"/>
              <a:t>5/8/2025</a:t>
            </a:fld>
            <a:endParaRPr lang="en-US"/>
          </a:p>
        </p:txBody>
      </p:sp>
      <p:sp>
        <p:nvSpPr>
          <p:cNvPr id="6" name="Footer Placeholder 5"/>
          <p:cNvSpPr>
            <a:spLocks noGrp="1"/>
          </p:cNvSpPr>
          <p:nvPr>
            <p:ph type="ftr" sz="quarter" idx="11"/>
          </p:nvPr>
        </p:nvSpPr>
        <p:spPr/>
        <p:txBody>
          <a:bodyPr/>
          <a:lstStyle/>
          <a:p>
            <a:r>
              <a:rPr lang="he-IL"/>
              <a:t>טיוטה-לא להפצה</a:t>
            </a:r>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DCB593-2AC2-4522-A0FE-066B3689B2B4}" type="datetime1">
              <a:rPr lang="en-US" smtClean="0"/>
              <a:t>5/8/2025</a:t>
            </a:fld>
            <a:endParaRPr lang="en-US"/>
          </a:p>
        </p:txBody>
      </p:sp>
      <p:sp>
        <p:nvSpPr>
          <p:cNvPr id="5" name="Footer Placeholder 4"/>
          <p:cNvSpPr>
            <a:spLocks noGrp="1"/>
          </p:cNvSpPr>
          <p:nvPr>
            <p:ph type="ftr" sz="quarter" idx="11"/>
          </p:nvPr>
        </p:nvSpPr>
        <p:spPr/>
        <p:txBody>
          <a:bodyPr/>
          <a:lstStyle/>
          <a:p>
            <a:r>
              <a:rPr lang="he-IL"/>
              <a:t>טיוטה-לא להפצה</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342BC0-B02A-4191-BD9D-6D4F0EE34B1F}" type="datetime1">
              <a:rPr lang="en-US" smtClean="0"/>
              <a:t>5/8/2025</a:t>
            </a:fld>
            <a:endParaRPr lang="en-US"/>
          </a:p>
        </p:txBody>
      </p:sp>
      <p:sp>
        <p:nvSpPr>
          <p:cNvPr id="5" name="Footer Placeholder 4"/>
          <p:cNvSpPr>
            <a:spLocks noGrp="1"/>
          </p:cNvSpPr>
          <p:nvPr>
            <p:ph type="ftr" sz="quarter" idx="11"/>
          </p:nvPr>
        </p:nvSpPr>
        <p:spPr/>
        <p:txBody>
          <a:bodyPr/>
          <a:lstStyle/>
          <a:p>
            <a:r>
              <a:rPr lang="he-IL"/>
              <a:t>טיוטה-לא להפצה</a:t>
            </a:r>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691451-169E-4085-B457-D94DA80B3C89}" type="datetime1">
              <a:rPr lang="en-US" smtClean="0"/>
              <a:t>5/8/2025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he-IL"/>
              <a:t>טיוטה-לא להפצה</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71C79-4B9C-DE29-DA60-2849C658236E}"/>
              </a:ext>
            </a:extLst>
          </p:cNvPr>
          <p:cNvSpPr>
            <a:spLocks noGrp="1"/>
          </p:cNvSpPr>
          <p:nvPr>
            <p:ph type="ctrTitle"/>
          </p:nvPr>
        </p:nvSpPr>
        <p:spPr>
          <a:xfrm>
            <a:off x="685800" y="1377950"/>
            <a:ext cx="7772400" cy="1470025"/>
          </a:xfrm>
        </p:spPr>
        <p:txBody>
          <a:bodyPr/>
          <a:lstStyle/>
          <a:p>
            <a:r>
              <a:rPr lang="he-IL"/>
              <a:t>מצב שירותי הרפואה בקהילה במזרח מול מערב ירושלים	</a:t>
            </a:r>
            <a:endParaRPr lang="he-IL" dirty="0"/>
          </a:p>
        </p:txBody>
      </p:sp>
      <p:sp>
        <p:nvSpPr>
          <p:cNvPr id="3" name="Subtitle 2">
            <a:extLst>
              <a:ext uri="{FF2B5EF4-FFF2-40B4-BE49-F238E27FC236}">
                <a16:creationId xmlns:a16="http://schemas.microsoft.com/office/drawing/2014/main" id="{44040B48-3304-81D1-D316-A73F230BA58C}"/>
              </a:ext>
            </a:extLst>
          </p:cNvPr>
          <p:cNvSpPr>
            <a:spLocks noGrp="1"/>
          </p:cNvSpPr>
          <p:nvPr>
            <p:ph type="subTitle" idx="1"/>
          </p:nvPr>
        </p:nvSpPr>
        <p:spPr>
          <a:xfrm>
            <a:off x="1247774" y="3086099"/>
            <a:ext cx="6734175" cy="2819401"/>
          </a:xfrm>
        </p:spPr>
        <p:txBody>
          <a:bodyPr>
            <a:normAutofit fontScale="92500" lnSpcReduction="10000"/>
          </a:bodyPr>
          <a:lstStyle/>
          <a:p>
            <a:r>
              <a:rPr lang="he-IL" dirty="0"/>
              <a:t>הפורום לשוויון בבריאות במזרח ירושלים</a:t>
            </a:r>
          </a:p>
          <a:p>
            <a:r>
              <a:rPr lang="he-IL" sz="3000" dirty="0"/>
              <a:t>מעודכן לחודש מאי 2025</a:t>
            </a:r>
          </a:p>
          <a:p>
            <a:endParaRPr lang="he-IL" dirty="0"/>
          </a:p>
          <a:p>
            <a:pPr rtl="1"/>
            <a:r>
              <a:rPr lang="he-IL" sz="2400" dirty="0"/>
              <a:t>איסוף נתונים: ד"ר יעל עשור, האוניברסיטה העברית | האגודה לזכויות האזרח | מרכז טאוב</a:t>
            </a:r>
          </a:p>
          <a:p>
            <a:r>
              <a:rPr lang="he-IL" sz="2400" dirty="0"/>
              <a:t>ניתוח נתונים: פרופ' גיא רון, האוניברסיטה העברית | אופיר גונן, אוניברסיטת בן גוריון ומרכז טאוב</a:t>
            </a:r>
          </a:p>
        </p:txBody>
      </p:sp>
      <p:sp>
        <p:nvSpPr>
          <p:cNvPr id="4" name="Footer Placeholder 3">
            <a:extLst>
              <a:ext uri="{FF2B5EF4-FFF2-40B4-BE49-F238E27FC236}">
                <a16:creationId xmlns:a16="http://schemas.microsoft.com/office/drawing/2014/main" id="{F0D80D4F-A9E6-9A05-DF6F-AD571BE17EBC}"/>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2675446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he-IL">
                <a:cs typeface="+mn-cs"/>
              </a:rPr>
              <a:t>הפעלה ישירה וזכיינות במספרים</a:t>
            </a:r>
            <a:endParaRPr lang="he-IL" dirty="0">
              <a:cs typeface="+mn-cs"/>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54286751"/>
              </p:ext>
            </p:extLst>
          </p:nvPr>
        </p:nvGraphicFramePr>
        <p:xfrm>
          <a:off x="628650" y="2226469"/>
          <a:ext cx="7886700" cy="1623060"/>
        </p:xfrm>
        <a:graphic>
          <a:graphicData uri="http://schemas.openxmlformats.org/drawingml/2006/table">
            <a:tbl>
              <a:tblPr rtl="1" firstRow="1" bandRow="1">
                <a:tableStyleId>{5C22544A-7EE6-4342-B048-85BDC9FD1C3A}</a:tableStyleId>
              </a:tblPr>
              <a:tblGrid>
                <a:gridCol w="1971675">
                  <a:extLst>
                    <a:ext uri="{9D8B030D-6E8A-4147-A177-3AD203B41FA5}">
                      <a16:colId xmlns:a16="http://schemas.microsoft.com/office/drawing/2014/main" val="1689749931"/>
                    </a:ext>
                  </a:extLst>
                </a:gridCol>
                <a:gridCol w="1971675">
                  <a:extLst>
                    <a:ext uri="{9D8B030D-6E8A-4147-A177-3AD203B41FA5}">
                      <a16:colId xmlns:a16="http://schemas.microsoft.com/office/drawing/2014/main" val="3770935557"/>
                    </a:ext>
                  </a:extLst>
                </a:gridCol>
                <a:gridCol w="1971675">
                  <a:extLst>
                    <a:ext uri="{9D8B030D-6E8A-4147-A177-3AD203B41FA5}">
                      <a16:colId xmlns:a16="http://schemas.microsoft.com/office/drawing/2014/main" val="2980971869"/>
                    </a:ext>
                  </a:extLst>
                </a:gridCol>
                <a:gridCol w="1971675">
                  <a:extLst>
                    <a:ext uri="{9D8B030D-6E8A-4147-A177-3AD203B41FA5}">
                      <a16:colId xmlns:a16="http://schemas.microsoft.com/office/drawing/2014/main" val="2101822966"/>
                    </a:ext>
                  </a:extLst>
                </a:gridCol>
              </a:tblGrid>
              <a:tr h="480060">
                <a:tc>
                  <a:txBody>
                    <a:bodyPr/>
                    <a:lstStyle/>
                    <a:p>
                      <a:pPr algn="ctr" rtl="1"/>
                      <a:r>
                        <a:rPr lang="he-IL" sz="1400"/>
                        <a:t>קופת חולים</a:t>
                      </a:r>
                      <a:endParaRPr lang="he-IL" sz="1400" dirty="0"/>
                    </a:p>
                  </a:txBody>
                  <a:tcPr marL="68580" marR="68580" marT="34290" marB="34290"/>
                </a:tc>
                <a:tc>
                  <a:txBody>
                    <a:bodyPr/>
                    <a:lstStyle/>
                    <a:p>
                      <a:pPr algn="ctr" rtl="1"/>
                      <a:r>
                        <a:rPr lang="he-IL" sz="1400"/>
                        <a:t>אחוז מכלל המבוטחים במזרח ירושלים</a:t>
                      </a:r>
                      <a:endParaRPr lang="he-IL" sz="1400" dirty="0"/>
                    </a:p>
                  </a:txBody>
                  <a:tcPr marL="68580" marR="68580" marT="34290" marB="34290"/>
                </a:tc>
                <a:tc>
                  <a:txBody>
                    <a:bodyPr/>
                    <a:lstStyle/>
                    <a:p>
                      <a:pPr algn="ctr" rtl="1"/>
                      <a:r>
                        <a:rPr lang="he-IL" sz="1400"/>
                        <a:t>מספר מרפאות בהפעלה</a:t>
                      </a:r>
                      <a:r>
                        <a:rPr lang="he-IL" sz="1400" baseline="0"/>
                        <a:t> ישירה במזרח ירושלים</a:t>
                      </a:r>
                      <a:endParaRPr lang="he-IL" sz="1400" dirty="0"/>
                    </a:p>
                  </a:txBody>
                  <a:tcPr marL="68580" marR="68580" marT="34290" marB="34290"/>
                </a:tc>
                <a:tc>
                  <a:txBody>
                    <a:bodyPr/>
                    <a:lstStyle/>
                    <a:p>
                      <a:pPr algn="ctr" rtl="1"/>
                      <a:r>
                        <a:rPr lang="he-IL" sz="1400"/>
                        <a:t>מספר מרפאות בזכיינות במזרח ירושלים</a:t>
                      </a:r>
                      <a:r>
                        <a:rPr lang="he-IL" sz="1400" baseline="0"/>
                        <a:t> </a:t>
                      </a:r>
                      <a:endParaRPr lang="he-IL" sz="1400" dirty="0"/>
                    </a:p>
                  </a:txBody>
                  <a:tcPr marL="68580" marR="68580" marT="34290" marB="34290"/>
                </a:tc>
                <a:extLst>
                  <a:ext uri="{0D108BD9-81ED-4DB2-BD59-A6C34878D82A}">
                    <a16:rowId xmlns:a16="http://schemas.microsoft.com/office/drawing/2014/main" val="1592815143"/>
                  </a:ext>
                </a:extLst>
              </a:tr>
              <a:tr h="278130">
                <a:tc>
                  <a:txBody>
                    <a:bodyPr/>
                    <a:lstStyle/>
                    <a:p>
                      <a:pPr algn="ctr" rtl="1"/>
                      <a:r>
                        <a:rPr lang="he-IL" sz="1400"/>
                        <a:t>כללית</a:t>
                      </a:r>
                      <a:endParaRPr lang="he-IL" sz="1400" dirty="0"/>
                    </a:p>
                  </a:txBody>
                  <a:tcPr marL="68580" marR="68580" marT="34290" marB="34290"/>
                </a:tc>
                <a:tc>
                  <a:txBody>
                    <a:bodyPr/>
                    <a:lstStyle/>
                    <a:p>
                      <a:pPr algn="ctr" rtl="1"/>
                      <a:r>
                        <a:rPr lang="he-IL" sz="1400"/>
                        <a:t>63%</a:t>
                      </a:r>
                      <a:endParaRPr lang="he-IL" sz="1400" dirty="0"/>
                    </a:p>
                  </a:txBody>
                  <a:tcPr marL="68580" marR="68580" marT="34290" marB="34290"/>
                </a:tc>
                <a:tc>
                  <a:txBody>
                    <a:bodyPr/>
                    <a:lstStyle/>
                    <a:p>
                      <a:pPr algn="ctr" rtl="1"/>
                      <a:r>
                        <a:rPr lang="he-IL" sz="1400"/>
                        <a:t>7</a:t>
                      </a:r>
                      <a:endParaRPr lang="he-IL" sz="1400" dirty="0"/>
                    </a:p>
                  </a:txBody>
                  <a:tcPr marL="68580" marR="68580" marT="34290" marB="34290"/>
                </a:tc>
                <a:tc>
                  <a:txBody>
                    <a:bodyPr/>
                    <a:lstStyle/>
                    <a:p>
                      <a:pPr algn="ctr" rtl="1"/>
                      <a:r>
                        <a:rPr lang="he-IL" sz="1400"/>
                        <a:t>39</a:t>
                      </a:r>
                      <a:endParaRPr lang="he-IL" sz="1400" dirty="0"/>
                    </a:p>
                  </a:txBody>
                  <a:tcPr marL="68580" marR="68580" marT="34290" marB="34290"/>
                </a:tc>
                <a:extLst>
                  <a:ext uri="{0D108BD9-81ED-4DB2-BD59-A6C34878D82A}">
                    <a16:rowId xmlns:a16="http://schemas.microsoft.com/office/drawing/2014/main" val="4213796751"/>
                  </a:ext>
                </a:extLst>
              </a:tr>
              <a:tr h="278130">
                <a:tc>
                  <a:txBody>
                    <a:bodyPr/>
                    <a:lstStyle/>
                    <a:p>
                      <a:pPr algn="ctr" rtl="1"/>
                      <a:r>
                        <a:rPr lang="he-IL" sz="1400"/>
                        <a:t>מאוחדת</a:t>
                      </a:r>
                      <a:endParaRPr lang="he-IL" sz="1400" dirty="0"/>
                    </a:p>
                  </a:txBody>
                  <a:tcPr marL="68580" marR="68580" marT="34290" marB="34290"/>
                </a:tc>
                <a:tc>
                  <a:txBody>
                    <a:bodyPr/>
                    <a:lstStyle/>
                    <a:p>
                      <a:pPr algn="ctr" rtl="1"/>
                      <a:r>
                        <a:rPr lang="he-IL" sz="1400"/>
                        <a:t>21%</a:t>
                      </a:r>
                      <a:endParaRPr lang="he-IL" sz="1400" dirty="0"/>
                    </a:p>
                  </a:txBody>
                  <a:tcPr marL="68580" marR="68580" marT="34290" marB="34290"/>
                </a:tc>
                <a:tc>
                  <a:txBody>
                    <a:bodyPr/>
                    <a:lstStyle/>
                    <a:p>
                      <a:pPr algn="ctr" rtl="1"/>
                      <a:r>
                        <a:rPr lang="he-IL" sz="1400"/>
                        <a:t>אין</a:t>
                      </a:r>
                      <a:endParaRPr lang="he-IL" sz="1400" dirty="0"/>
                    </a:p>
                  </a:txBody>
                  <a:tcPr marL="68580" marR="68580" marT="34290" marB="34290"/>
                </a:tc>
                <a:tc>
                  <a:txBody>
                    <a:bodyPr/>
                    <a:lstStyle/>
                    <a:p>
                      <a:pPr algn="ctr" rtl="1"/>
                      <a:r>
                        <a:rPr lang="he-IL" sz="1400"/>
                        <a:t>20</a:t>
                      </a:r>
                      <a:endParaRPr lang="he-IL" sz="1400" dirty="0"/>
                    </a:p>
                  </a:txBody>
                  <a:tcPr marL="68580" marR="68580" marT="34290" marB="34290"/>
                </a:tc>
                <a:extLst>
                  <a:ext uri="{0D108BD9-81ED-4DB2-BD59-A6C34878D82A}">
                    <a16:rowId xmlns:a16="http://schemas.microsoft.com/office/drawing/2014/main" val="868732671"/>
                  </a:ext>
                </a:extLst>
              </a:tr>
              <a:tr h="278130">
                <a:tc>
                  <a:txBody>
                    <a:bodyPr/>
                    <a:lstStyle/>
                    <a:p>
                      <a:pPr algn="ctr" rtl="1"/>
                      <a:r>
                        <a:rPr lang="he-IL" sz="1400"/>
                        <a:t>מכבי</a:t>
                      </a:r>
                      <a:endParaRPr lang="he-IL" sz="1400" dirty="0"/>
                    </a:p>
                  </a:txBody>
                  <a:tcPr marL="68580" marR="68580" marT="34290" marB="34290"/>
                </a:tc>
                <a:tc>
                  <a:txBody>
                    <a:bodyPr/>
                    <a:lstStyle/>
                    <a:p>
                      <a:pPr algn="ctr" rtl="1"/>
                      <a:r>
                        <a:rPr lang="he-IL" sz="1400"/>
                        <a:t>7.5%</a:t>
                      </a:r>
                      <a:endParaRPr lang="he-IL" sz="1400" dirty="0"/>
                    </a:p>
                  </a:txBody>
                  <a:tcPr marL="68580" marR="68580" marT="34290" marB="34290"/>
                </a:tc>
                <a:tc>
                  <a:txBody>
                    <a:bodyPr/>
                    <a:lstStyle/>
                    <a:p>
                      <a:pPr algn="ctr" rtl="1"/>
                      <a:r>
                        <a:rPr lang="he-IL" sz="1400"/>
                        <a:t>1</a:t>
                      </a:r>
                      <a:endParaRPr lang="he-IL" sz="1400" dirty="0"/>
                    </a:p>
                  </a:txBody>
                  <a:tcPr marL="68580" marR="68580" marT="34290" marB="34290"/>
                </a:tc>
                <a:tc>
                  <a:txBody>
                    <a:bodyPr/>
                    <a:lstStyle/>
                    <a:p>
                      <a:pPr algn="ctr" rtl="1"/>
                      <a:r>
                        <a:rPr lang="he-IL" sz="1400"/>
                        <a:t>13</a:t>
                      </a:r>
                      <a:endParaRPr lang="he-IL" sz="1400" dirty="0"/>
                    </a:p>
                  </a:txBody>
                  <a:tcPr marL="68580" marR="68580" marT="34290" marB="34290"/>
                </a:tc>
                <a:extLst>
                  <a:ext uri="{0D108BD9-81ED-4DB2-BD59-A6C34878D82A}">
                    <a16:rowId xmlns:a16="http://schemas.microsoft.com/office/drawing/2014/main" val="2214404036"/>
                  </a:ext>
                </a:extLst>
              </a:tr>
              <a:tr h="278130">
                <a:tc>
                  <a:txBody>
                    <a:bodyPr/>
                    <a:lstStyle/>
                    <a:p>
                      <a:pPr algn="ctr" rtl="1"/>
                      <a:r>
                        <a:rPr lang="he-IL" sz="1400"/>
                        <a:t>לאומית</a:t>
                      </a:r>
                      <a:endParaRPr lang="he-IL" sz="1400" dirty="0"/>
                    </a:p>
                  </a:txBody>
                  <a:tcPr marL="68580" marR="68580" marT="34290" marB="34290"/>
                </a:tc>
                <a:tc>
                  <a:txBody>
                    <a:bodyPr/>
                    <a:lstStyle/>
                    <a:p>
                      <a:pPr algn="ctr" rtl="1"/>
                      <a:r>
                        <a:rPr lang="he-IL" sz="1400"/>
                        <a:t>7.5%</a:t>
                      </a:r>
                      <a:endParaRPr lang="he-IL" sz="1400" dirty="0"/>
                    </a:p>
                  </a:txBody>
                  <a:tcPr marL="68580" marR="68580" marT="34290" marB="34290"/>
                </a:tc>
                <a:tc>
                  <a:txBody>
                    <a:bodyPr/>
                    <a:lstStyle/>
                    <a:p>
                      <a:pPr algn="ctr" rtl="1"/>
                      <a:r>
                        <a:rPr lang="he-IL" sz="1400"/>
                        <a:t>5</a:t>
                      </a:r>
                      <a:endParaRPr lang="he-IL" sz="1400" dirty="0"/>
                    </a:p>
                  </a:txBody>
                  <a:tcPr marL="68580" marR="68580" marT="34290" marB="34290"/>
                </a:tc>
                <a:tc>
                  <a:txBody>
                    <a:bodyPr/>
                    <a:lstStyle/>
                    <a:p>
                      <a:pPr algn="ctr" rtl="1"/>
                      <a:r>
                        <a:rPr lang="he-IL" sz="1400"/>
                        <a:t>5</a:t>
                      </a:r>
                      <a:endParaRPr lang="he-IL" sz="1400" dirty="0"/>
                    </a:p>
                  </a:txBody>
                  <a:tcPr marL="68580" marR="68580" marT="34290" marB="34290"/>
                </a:tc>
                <a:extLst>
                  <a:ext uri="{0D108BD9-81ED-4DB2-BD59-A6C34878D82A}">
                    <a16:rowId xmlns:a16="http://schemas.microsoft.com/office/drawing/2014/main" val="346241504"/>
                  </a:ext>
                </a:extLst>
              </a:tr>
            </a:tbl>
          </a:graphicData>
        </a:graphic>
      </p:graphicFrame>
      <p:sp>
        <p:nvSpPr>
          <p:cNvPr id="6" name="TextBox 5"/>
          <p:cNvSpPr txBox="1"/>
          <p:nvPr/>
        </p:nvSpPr>
        <p:spPr>
          <a:xfrm>
            <a:off x="1091233" y="3819049"/>
            <a:ext cx="7577715" cy="276999"/>
          </a:xfrm>
          <a:prstGeom prst="rect">
            <a:avLst/>
          </a:prstGeom>
          <a:noFill/>
        </p:spPr>
        <p:txBody>
          <a:bodyPr wrap="none" rtlCol="1">
            <a:spAutoFit/>
          </a:bodyPr>
          <a:lstStyle/>
          <a:p>
            <a:r>
              <a:rPr lang="he-IL" sz="1200"/>
              <a:t>מקור: זגייר מ', שירותי בריאות מרפאתיים במזרח ירושלים-תמונת מצב והמלצות מדיניות, מכון ירושלים למחקרי מדיניות, 2022</a:t>
            </a:r>
            <a:endParaRPr lang="he-IL" sz="1200" dirty="0"/>
          </a:p>
        </p:txBody>
      </p:sp>
      <p:sp>
        <p:nvSpPr>
          <p:cNvPr id="3" name="Footer Placeholder 2">
            <a:extLst>
              <a:ext uri="{FF2B5EF4-FFF2-40B4-BE49-F238E27FC236}">
                <a16:creationId xmlns:a16="http://schemas.microsoft.com/office/drawing/2014/main" id="{591DC7CB-7456-7D6A-82B5-F47C584B5061}"/>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619964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he-IL" dirty="0">
                <a:cs typeface="+mn-cs"/>
              </a:rPr>
              <a:t>הפעלה ישירה וזכיינות במספרים</a:t>
            </a:r>
          </a:p>
        </p:txBody>
      </p:sp>
      <p:graphicFrame>
        <p:nvGraphicFramePr>
          <p:cNvPr id="4" name="Content Placeholder 3"/>
          <p:cNvGraphicFramePr>
            <a:graphicFrameLocks noGrp="1"/>
          </p:cNvGraphicFramePr>
          <p:nvPr>
            <p:ph idx="1"/>
          </p:nvPr>
        </p:nvGraphicFramePr>
        <p:xfrm>
          <a:off x="628650" y="2226469"/>
          <a:ext cx="7886700" cy="1623060"/>
        </p:xfrm>
        <a:graphic>
          <a:graphicData uri="http://schemas.openxmlformats.org/drawingml/2006/table">
            <a:tbl>
              <a:tblPr rtl="1" firstRow="1" bandRow="1">
                <a:tableStyleId>{5C22544A-7EE6-4342-B048-85BDC9FD1C3A}</a:tableStyleId>
              </a:tblPr>
              <a:tblGrid>
                <a:gridCol w="1971675">
                  <a:extLst>
                    <a:ext uri="{9D8B030D-6E8A-4147-A177-3AD203B41FA5}">
                      <a16:colId xmlns:a16="http://schemas.microsoft.com/office/drawing/2014/main" val="1689749931"/>
                    </a:ext>
                  </a:extLst>
                </a:gridCol>
                <a:gridCol w="1971675">
                  <a:extLst>
                    <a:ext uri="{9D8B030D-6E8A-4147-A177-3AD203B41FA5}">
                      <a16:colId xmlns:a16="http://schemas.microsoft.com/office/drawing/2014/main" val="3770935557"/>
                    </a:ext>
                  </a:extLst>
                </a:gridCol>
                <a:gridCol w="1971675">
                  <a:extLst>
                    <a:ext uri="{9D8B030D-6E8A-4147-A177-3AD203B41FA5}">
                      <a16:colId xmlns:a16="http://schemas.microsoft.com/office/drawing/2014/main" val="2980971869"/>
                    </a:ext>
                  </a:extLst>
                </a:gridCol>
                <a:gridCol w="1971675">
                  <a:extLst>
                    <a:ext uri="{9D8B030D-6E8A-4147-A177-3AD203B41FA5}">
                      <a16:colId xmlns:a16="http://schemas.microsoft.com/office/drawing/2014/main" val="2101822966"/>
                    </a:ext>
                  </a:extLst>
                </a:gridCol>
              </a:tblGrid>
              <a:tr h="480060">
                <a:tc>
                  <a:txBody>
                    <a:bodyPr/>
                    <a:lstStyle/>
                    <a:p>
                      <a:pPr algn="ctr" rtl="1"/>
                      <a:r>
                        <a:rPr lang="he-IL" sz="1400" dirty="0"/>
                        <a:t>קופת חולים</a:t>
                      </a:r>
                    </a:p>
                  </a:txBody>
                  <a:tcPr marL="68580" marR="68580" marT="34290" marB="34290"/>
                </a:tc>
                <a:tc>
                  <a:txBody>
                    <a:bodyPr/>
                    <a:lstStyle/>
                    <a:p>
                      <a:pPr algn="ctr" rtl="1"/>
                      <a:r>
                        <a:rPr lang="he-IL" sz="1400" dirty="0"/>
                        <a:t>אחוז מכלל המבוטחים במזרח ירושלים</a:t>
                      </a:r>
                    </a:p>
                  </a:txBody>
                  <a:tcPr marL="68580" marR="68580" marT="34290" marB="34290"/>
                </a:tc>
                <a:tc>
                  <a:txBody>
                    <a:bodyPr/>
                    <a:lstStyle/>
                    <a:p>
                      <a:pPr algn="ctr" rtl="1"/>
                      <a:r>
                        <a:rPr lang="he-IL" sz="1400" dirty="0"/>
                        <a:t>מספר מרפאות בהפעלה</a:t>
                      </a:r>
                      <a:r>
                        <a:rPr lang="he-IL" sz="1400" baseline="0" dirty="0"/>
                        <a:t> ישירה במזרח ירושלים</a:t>
                      </a:r>
                      <a:endParaRPr lang="he-IL" sz="1400" dirty="0"/>
                    </a:p>
                  </a:txBody>
                  <a:tcPr marL="68580" marR="68580" marT="34290" marB="34290"/>
                </a:tc>
                <a:tc>
                  <a:txBody>
                    <a:bodyPr/>
                    <a:lstStyle/>
                    <a:p>
                      <a:pPr algn="ctr" rtl="1"/>
                      <a:r>
                        <a:rPr lang="he-IL" sz="1400" dirty="0"/>
                        <a:t>מספר מרפאות בזכיינות במזרח ירושלים</a:t>
                      </a:r>
                      <a:r>
                        <a:rPr lang="he-IL" sz="1400" baseline="0" dirty="0"/>
                        <a:t> </a:t>
                      </a:r>
                      <a:endParaRPr lang="he-IL" sz="1400" dirty="0"/>
                    </a:p>
                  </a:txBody>
                  <a:tcPr marL="68580" marR="68580" marT="34290" marB="34290"/>
                </a:tc>
                <a:extLst>
                  <a:ext uri="{0D108BD9-81ED-4DB2-BD59-A6C34878D82A}">
                    <a16:rowId xmlns:a16="http://schemas.microsoft.com/office/drawing/2014/main" val="1592815143"/>
                  </a:ext>
                </a:extLst>
              </a:tr>
              <a:tr h="278130">
                <a:tc>
                  <a:txBody>
                    <a:bodyPr/>
                    <a:lstStyle/>
                    <a:p>
                      <a:pPr algn="ctr" rtl="1"/>
                      <a:r>
                        <a:rPr lang="he-IL" sz="1400" dirty="0"/>
                        <a:t>כללית</a:t>
                      </a:r>
                    </a:p>
                  </a:txBody>
                  <a:tcPr marL="68580" marR="68580" marT="34290" marB="34290">
                    <a:solidFill>
                      <a:schemeClr val="accent6">
                        <a:lumMod val="40000"/>
                        <a:lumOff val="60000"/>
                      </a:schemeClr>
                    </a:solidFill>
                  </a:tcPr>
                </a:tc>
                <a:tc>
                  <a:txBody>
                    <a:bodyPr/>
                    <a:lstStyle/>
                    <a:p>
                      <a:pPr algn="ctr" rtl="1"/>
                      <a:r>
                        <a:rPr lang="he-IL" sz="1400" dirty="0"/>
                        <a:t>63%</a:t>
                      </a:r>
                    </a:p>
                  </a:txBody>
                  <a:tcPr marL="68580" marR="68580" marT="34290" marB="34290">
                    <a:solidFill>
                      <a:schemeClr val="accent6">
                        <a:lumMod val="40000"/>
                        <a:lumOff val="60000"/>
                      </a:schemeClr>
                    </a:solidFill>
                  </a:tcPr>
                </a:tc>
                <a:tc>
                  <a:txBody>
                    <a:bodyPr/>
                    <a:lstStyle/>
                    <a:p>
                      <a:pPr algn="ctr" rtl="1"/>
                      <a:r>
                        <a:rPr lang="he-IL" sz="1400" dirty="0"/>
                        <a:t>7</a:t>
                      </a:r>
                    </a:p>
                  </a:txBody>
                  <a:tcPr marL="68580" marR="68580" marT="34290" marB="34290">
                    <a:solidFill>
                      <a:schemeClr val="accent6">
                        <a:lumMod val="40000"/>
                        <a:lumOff val="60000"/>
                      </a:schemeClr>
                    </a:solidFill>
                  </a:tcPr>
                </a:tc>
                <a:tc>
                  <a:txBody>
                    <a:bodyPr/>
                    <a:lstStyle/>
                    <a:p>
                      <a:pPr algn="ctr" rtl="1"/>
                      <a:r>
                        <a:rPr lang="he-IL" sz="1400" dirty="0"/>
                        <a:t>39</a:t>
                      </a:r>
                    </a:p>
                  </a:txBody>
                  <a:tcPr marL="68580" marR="68580" marT="34290" marB="34290">
                    <a:solidFill>
                      <a:schemeClr val="accent6">
                        <a:lumMod val="40000"/>
                        <a:lumOff val="60000"/>
                      </a:schemeClr>
                    </a:solidFill>
                  </a:tcPr>
                </a:tc>
                <a:extLst>
                  <a:ext uri="{0D108BD9-81ED-4DB2-BD59-A6C34878D82A}">
                    <a16:rowId xmlns:a16="http://schemas.microsoft.com/office/drawing/2014/main" val="4213796751"/>
                  </a:ext>
                </a:extLst>
              </a:tr>
              <a:tr h="278130">
                <a:tc>
                  <a:txBody>
                    <a:bodyPr/>
                    <a:lstStyle/>
                    <a:p>
                      <a:pPr algn="ctr" rtl="1"/>
                      <a:r>
                        <a:rPr lang="he-IL" sz="1400" dirty="0"/>
                        <a:t>מאוחדת</a:t>
                      </a:r>
                    </a:p>
                  </a:txBody>
                  <a:tcPr marL="68580" marR="68580" marT="34290" marB="34290">
                    <a:solidFill>
                      <a:schemeClr val="accent6">
                        <a:lumMod val="40000"/>
                        <a:lumOff val="60000"/>
                      </a:schemeClr>
                    </a:solidFill>
                  </a:tcPr>
                </a:tc>
                <a:tc>
                  <a:txBody>
                    <a:bodyPr/>
                    <a:lstStyle/>
                    <a:p>
                      <a:pPr algn="ctr" rtl="1"/>
                      <a:r>
                        <a:rPr lang="he-IL" sz="1400" dirty="0"/>
                        <a:t>21%</a:t>
                      </a:r>
                    </a:p>
                  </a:txBody>
                  <a:tcPr marL="68580" marR="68580" marT="34290" marB="34290">
                    <a:solidFill>
                      <a:schemeClr val="accent6">
                        <a:lumMod val="40000"/>
                        <a:lumOff val="60000"/>
                      </a:schemeClr>
                    </a:solidFill>
                  </a:tcPr>
                </a:tc>
                <a:tc>
                  <a:txBody>
                    <a:bodyPr/>
                    <a:lstStyle/>
                    <a:p>
                      <a:pPr algn="ctr" rtl="1"/>
                      <a:r>
                        <a:rPr lang="he-IL" sz="1400" dirty="0"/>
                        <a:t>אין</a:t>
                      </a:r>
                    </a:p>
                  </a:txBody>
                  <a:tcPr marL="68580" marR="68580" marT="34290" marB="34290">
                    <a:solidFill>
                      <a:schemeClr val="accent6">
                        <a:lumMod val="40000"/>
                        <a:lumOff val="60000"/>
                      </a:schemeClr>
                    </a:solidFill>
                  </a:tcPr>
                </a:tc>
                <a:tc>
                  <a:txBody>
                    <a:bodyPr/>
                    <a:lstStyle/>
                    <a:p>
                      <a:pPr algn="ctr" rtl="1"/>
                      <a:r>
                        <a:rPr lang="he-IL" sz="1400" dirty="0"/>
                        <a:t>20</a:t>
                      </a:r>
                    </a:p>
                  </a:txBody>
                  <a:tcPr marL="68580" marR="68580" marT="34290" marB="34290">
                    <a:solidFill>
                      <a:schemeClr val="accent6">
                        <a:lumMod val="40000"/>
                        <a:lumOff val="60000"/>
                      </a:schemeClr>
                    </a:solidFill>
                  </a:tcPr>
                </a:tc>
                <a:extLst>
                  <a:ext uri="{0D108BD9-81ED-4DB2-BD59-A6C34878D82A}">
                    <a16:rowId xmlns:a16="http://schemas.microsoft.com/office/drawing/2014/main" val="868732671"/>
                  </a:ext>
                </a:extLst>
              </a:tr>
              <a:tr h="278130">
                <a:tc>
                  <a:txBody>
                    <a:bodyPr/>
                    <a:lstStyle/>
                    <a:p>
                      <a:pPr algn="ctr" rtl="1"/>
                      <a:r>
                        <a:rPr lang="he-IL" sz="1400" dirty="0"/>
                        <a:t>מכבי</a:t>
                      </a:r>
                    </a:p>
                  </a:txBody>
                  <a:tcPr marL="68580" marR="68580" marT="34290" marB="34290"/>
                </a:tc>
                <a:tc>
                  <a:txBody>
                    <a:bodyPr/>
                    <a:lstStyle/>
                    <a:p>
                      <a:pPr algn="ctr" rtl="1"/>
                      <a:r>
                        <a:rPr lang="he-IL" sz="1400" dirty="0"/>
                        <a:t>7.5%</a:t>
                      </a:r>
                    </a:p>
                  </a:txBody>
                  <a:tcPr marL="68580" marR="68580" marT="34290" marB="34290"/>
                </a:tc>
                <a:tc>
                  <a:txBody>
                    <a:bodyPr/>
                    <a:lstStyle/>
                    <a:p>
                      <a:pPr algn="ctr" rtl="1"/>
                      <a:r>
                        <a:rPr lang="he-IL" sz="1400" dirty="0"/>
                        <a:t>1</a:t>
                      </a:r>
                    </a:p>
                  </a:txBody>
                  <a:tcPr marL="68580" marR="68580" marT="34290" marB="34290"/>
                </a:tc>
                <a:tc>
                  <a:txBody>
                    <a:bodyPr/>
                    <a:lstStyle/>
                    <a:p>
                      <a:pPr algn="ctr" rtl="1"/>
                      <a:r>
                        <a:rPr lang="he-IL" sz="1400" dirty="0"/>
                        <a:t>13</a:t>
                      </a:r>
                    </a:p>
                  </a:txBody>
                  <a:tcPr marL="68580" marR="68580" marT="34290" marB="34290"/>
                </a:tc>
                <a:extLst>
                  <a:ext uri="{0D108BD9-81ED-4DB2-BD59-A6C34878D82A}">
                    <a16:rowId xmlns:a16="http://schemas.microsoft.com/office/drawing/2014/main" val="2214404036"/>
                  </a:ext>
                </a:extLst>
              </a:tr>
              <a:tr h="278130">
                <a:tc>
                  <a:txBody>
                    <a:bodyPr/>
                    <a:lstStyle/>
                    <a:p>
                      <a:pPr algn="ctr" rtl="1"/>
                      <a:r>
                        <a:rPr lang="he-IL" sz="1400" dirty="0"/>
                        <a:t>לאומית</a:t>
                      </a:r>
                    </a:p>
                  </a:txBody>
                  <a:tcPr marL="68580" marR="68580" marT="34290" marB="34290"/>
                </a:tc>
                <a:tc>
                  <a:txBody>
                    <a:bodyPr/>
                    <a:lstStyle/>
                    <a:p>
                      <a:pPr algn="ctr" rtl="1"/>
                      <a:r>
                        <a:rPr lang="he-IL" sz="1400" dirty="0"/>
                        <a:t>7.5%</a:t>
                      </a:r>
                    </a:p>
                  </a:txBody>
                  <a:tcPr marL="68580" marR="68580" marT="34290" marB="34290"/>
                </a:tc>
                <a:tc>
                  <a:txBody>
                    <a:bodyPr/>
                    <a:lstStyle/>
                    <a:p>
                      <a:pPr algn="ctr" rtl="1"/>
                      <a:r>
                        <a:rPr lang="he-IL" sz="1400" dirty="0"/>
                        <a:t>5</a:t>
                      </a:r>
                    </a:p>
                  </a:txBody>
                  <a:tcPr marL="68580" marR="68580" marT="34290" marB="34290"/>
                </a:tc>
                <a:tc>
                  <a:txBody>
                    <a:bodyPr/>
                    <a:lstStyle/>
                    <a:p>
                      <a:pPr algn="ctr" rtl="1"/>
                      <a:r>
                        <a:rPr lang="he-IL" sz="1400" dirty="0"/>
                        <a:t>5</a:t>
                      </a:r>
                    </a:p>
                  </a:txBody>
                  <a:tcPr marL="68580" marR="68580" marT="34290" marB="34290"/>
                </a:tc>
                <a:extLst>
                  <a:ext uri="{0D108BD9-81ED-4DB2-BD59-A6C34878D82A}">
                    <a16:rowId xmlns:a16="http://schemas.microsoft.com/office/drawing/2014/main" val="346241504"/>
                  </a:ext>
                </a:extLst>
              </a:tr>
            </a:tbl>
          </a:graphicData>
        </a:graphic>
      </p:graphicFrame>
      <p:sp>
        <p:nvSpPr>
          <p:cNvPr id="3" name="TextBox 2"/>
          <p:cNvSpPr txBox="1"/>
          <p:nvPr/>
        </p:nvSpPr>
        <p:spPr>
          <a:xfrm>
            <a:off x="907473" y="4149090"/>
            <a:ext cx="7707523" cy="1200329"/>
          </a:xfrm>
          <a:prstGeom prst="rect">
            <a:avLst/>
          </a:prstGeom>
          <a:noFill/>
        </p:spPr>
        <p:txBody>
          <a:bodyPr wrap="square" rtlCol="1">
            <a:spAutoFit/>
          </a:bodyPr>
          <a:lstStyle/>
          <a:p>
            <a:pPr algn="r" rtl="1"/>
            <a:r>
              <a:rPr lang="he-IL" dirty="0"/>
              <a:t>בשל האיכות הירודה של נתונים שהתקבלו ממכבי, לאומית,  ומאוחדת, הנתונים בהמשך הדו"ח מתמקדים בקופות כללית, שהיא ממילא הקופה הדומיננטית במזרח ירושלים. דיווחי קופות החולים האחרות, הגם שאינם איכותיים באותה המידה, משקפים מגמות דומות. </a:t>
            </a:r>
          </a:p>
        </p:txBody>
      </p:sp>
      <p:sp>
        <p:nvSpPr>
          <p:cNvPr id="7" name="TextBox 6"/>
          <p:cNvSpPr txBox="1"/>
          <p:nvPr/>
        </p:nvSpPr>
        <p:spPr>
          <a:xfrm>
            <a:off x="1091233" y="3819049"/>
            <a:ext cx="7577715" cy="276999"/>
          </a:xfrm>
          <a:prstGeom prst="rect">
            <a:avLst/>
          </a:prstGeom>
          <a:noFill/>
        </p:spPr>
        <p:txBody>
          <a:bodyPr wrap="none" rtlCol="1">
            <a:spAutoFit/>
          </a:bodyPr>
          <a:lstStyle/>
          <a:p>
            <a:r>
              <a:rPr lang="he-IL" sz="1200" dirty="0"/>
              <a:t>מקור: </a:t>
            </a:r>
            <a:r>
              <a:rPr lang="he-IL" sz="1200" dirty="0" err="1"/>
              <a:t>זגייר</a:t>
            </a:r>
            <a:r>
              <a:rPr lang="he-IL" sz="1200" dirty="0"/>
              <a:t> מ', שירותי בריאות </a:t>
            </a:r>
            <a:r>
              <a:rPr lang="he-IL" sz="1200" dirty="0" err="1"/>
              <a:t>מרפאתיים</a:t>
            </a:r>
            <a:r>
              <a:rPr lang="he-IL" sz="1200" dirty="0"/>
              <a:t> במזרח ירושלים-תמונת מצב והמלצות מדיניות, מכון ירושלים למחקרי מדיניות, 2022</a:t>
            </a:r>
          </a:p>
        </p:txBody>
      </p:sp>
      <p:sp>
        <p:nvSpPr>
          <p:cNvPr id="5" name="Footer Placeholder 4">
            <a:extLst>
              <a:ext uri="{FF2B5EF4-FFF2-40B4-BE49-F238E27FC236}">
                <a16:creationId xmlns:a16="http://schemas.microsoft.com/office/drawing/2014/main" id="{6C22961F-C820-16C8-E407-52871F953E73}"/>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144201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rtl="1"/>
            <a:r>
              <a:rPr lang="he-IL">
                <a:cs typeface="+mn-cs"/>
              </a:rPr>
              <a:t>הפעלה ישירה וזכיינות במספרים</a:t>
            </a:r>
            <a:endParaRPr lang="he-IL" dirty="0">
              <a:cs typeface="+mn-cs"/>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59892152"/>
              </p:ext>
            </p:extLst>
          </p:nvPr>
        </p:nvGraphicFramePr>
        <p:xfrm>
          <a:off x="3783330" y="2226469"/>
          <a:ext cx="4732020" cy="1127760"/>
        </p:xfrm>
        <a:graphic>
          <a:graphicData uri="http://schemas.openxmlformats.org/drawingml/2006/table">
            <a:tbl>
              <a:tblPr rtl="1" firstRow="1" bandRow="1">
                <a:tableStyleId>{93296810-A885-4BE3-A3E7-6D5BEEA58F35}</a:tableStyleId>
              </a:tblPr>
              <a:tblGrid>
                <a:gridCol w="1577340">
                  <a:extLst>
                    <a:ext uri="{9D8B030D-6E8A-4147-A177-3AD203B41FA5}">
                      <a16:colId xmlns:a16="http://schemas.microsoft.com/office/drawing/2014/main" val="3717626466"/>
                    </a:ext>
                  </a:extLst>
                </a:gridCol>
                <a:gridCol w="1577340">
                  <a:extLst>
                    <a:ext uri="{9D8B030D-6E8A-4147-A177-3AD203B41FA5}">
                      <a16:colId xmlns:a16="http://schemas.microsoft.com/office/drawing/2014/main" val="3661843197"/>
                    </a:ext>
                  </a:extLst>
                </a:gridCol>
                <a:gridCol w="1577340">
                  <a:extLst>
                    <a:ext uri="{9D8B030D-6E8A-4147-A177-3AD203B41FA5}">
                      <a16:colId xmlns:a16="http://schemas.microsoft.com/office/drawing/2014/main" val="2230942217"/>
                    </a:ext>
                  </a:extLst>
                </a:gridCol>
              </a:tblGrid>
              <a:tr h="278130">
                <a:tc>
                  <a:txBody>
                    <a:bodyPr/>
                    <a:lstStyle/>
                    <a:p>
                      <a:pPr algn="ctr" rtl="1"/>
                      <a:endParaRPr lang="he-IL" sz="1400" dirty="0"/>
                    </a:p>
                  </a:txBody>
                  <a:tcPr marL="68580" marR="68580" marT="34290" marB="34290"/>
                </a:tc>
                <a:tc gridSpan="2">
                  <a:txBody>
                    <a:bodyPr/>
                    <a:lstStyle/>
                    <a:p>
                      <a:pPr algn="ctr" rtl="1"/>
                      <a:r>
                        <a:rPr lang="he-IL" sz="1400"/>
                        <a:t>כללית</a:t>
                      </a:r>
                      <a:endParaRPr lang="he-IL" sz="1400" dirty="0"/>
                    </a:p>
                  </a:txBody>
                  <a:tcPr marL="68580" marR="68580" marT="34290" marB="34290"/>
                </a:tc>
                <a:tc hMerge="1">
                  <a:txBody>
                    <a:bodyPr/>
                    <a:lstStyle/>
                    <a:p>
                      <a:pPr rtl="1"/>
                      <a:endParaRPr lang="he-IL" dirty="0"/>
                    </a:p>
                  </a:txBody>
                  <a:tcPr/>
                </a:tc>
                <a:extLst>
                  <a:ext uri="{0D108BD9-81ED-4DB2-BD59-A6C34878D82A}">
                    <a16:rowId xmlns:a16="http://schemas.microsoft.com/office/drawing/2014/main" val="974124946"/>
                  </a:ext>
                </a:extLst>
              </a:tr>
              <a:tr h="278130">
                <a:tc>
                  <a:txBody>
                    <a:bodyPr/>
                    <a:lstStyle/>
                    <a:p>
                      <a:pPr algn="ctr" rtl="1"/>
                      <a:endParaRPr lang="he-IL" sz="1400" dirty="0"/>
                    </a:p>
                  </a:txBody>
                  <a:tcPr marL="68580" marR="68580" marT="34290" marB="34290"/>
                </a:tc>
                <a:tc>
                  <a:txBody>
                    <a:bodyPr/>
                    <a:lstStyle/>
                    <a:p>
                      <a:pPr algn="ctr" rtl="1"/>
                      <a:r>
                        <a:rPr lang="he-IL" sz="1400"/>
                        <a:t>הפעלה ישירה</a:t>
                      </a:r>
                      <a:endParaRPr lang="he-IL" sz="1400" dirty="0"/>
                    </a:p>
                  </a:txBody>
                  <a:tcPr marL="68580" marR="68580" marT="34290" marB="34290"/>
                </a:tc>
                <a:tc>
                  <a:txBody>
                    <a:bodyPr/>
                    <a:lstStyle/>
                    <a:p>
                      <a:pPr algn="ctr" rtl="1"/>
                      <a:r>
                        <a:rPr lang="he-IL" sz="1400"/>
                        <a:t>זכיינות</a:t>
                      </a:r>
                      <a:endParaRPr lang="he-IL" sz="1400" dirty="0"/>
                    </a:p>
                  </a:txBody>
                  <a:tcPr marL="68580" marR="68580" marT="34290" marB="34290"/>
                </a:tc>
                <a:extLst>
                  <a:ext uri="{0D108BD9-81ED-4DB2-BD59-A6C34878D82A}">
                    <a16:rowId xmlns:a16="http://schemas.microsoft.com/office/drawing/2014/main" val="266521739"/>
                  </a:ext>
                </a:extLst>
              </a:tr>
              <a:tr h="278130">
                <a:tc>
                  <a:txBody>
                    <a:bodyPr/>
                    <a:lstStyle/>
                    <a:p>
                      <a:pPr algn="ctr" rtl="1"/>
                      <a:r>
                        <a:rPr lang="he-IL" sz="1400"/>
                        <a:t>מבוטחים</a:t>
                      </a:r>
                      <a:endParaRPr lang="he-IL" sz="1400" dirty="0"/>
                    </a:p>
                  </a:txBody>
                  <a:tcPr marL="68580" marR="68580" marT="34290" marB="34290"/>
                </a:tc>
                <a:tc>
                  <a:txBody>
                    <a:bodyPr/>
                    <a:lstStyle/>
                    <a:p>
                      <a:pPr algn="ctr" rtl="1"/>
                      <a:r>
                        <a:rPr lang="he-IL" sz="1400"/>
                        <a:t>67%</a:t>
                      </a:r>
                      <a:endParaRPr lang="he-IL" sz="1400" dirty="0"/>
                    </a:p>
                  </a:txBody>
                  <a:tcPr marL="68580" marR="68580" marT="34290" marB="34290"/>
                </a:tc>
                <a:tc>
                  <a:txBody>
                    <a:bodyPr/>
                    <a:lstStyle/>
                    <a:p>
                      <a:pPr algn="ctr" rtl="1"/>
                      <a:r>
                        <a:rPr lang="he-IL" sz="1400"/>
                        <a:t>33%</a:t>
                      </a:r>
                      <a:endParaRPr lang="he-IL" sz="1400" dirty="0"/>
                    </a:p>
                  </a:txBody>
                  <a:tcPr marL="68580" marR="68580" marT="34290" marB="34290"/>
                </a:tc>
                <a:extLst>
                  <a:ext uri="{0D108BD9-81ED-4DB2-BD59-A6C34878D82A}">
                    <a16:rowId xmlns:a16="http://schemas.microsoft.com/office/drawing/2014/main" val="3527178267"/>
                  </a:ext>
                </a:extLst>
              </a:tr>
              <a:tr h="278130">
                <a:tc>
                  <a:txBody>
                    <a:bodyPr/>
                    <a:lstStyle/>
                    <a:p>
                      <a:pPr algn="ctr" rtl="1"/>
                      <a:r>
                        <a:rPr lang="he-IL" sz="1400"/>
                        <a:t>סניפים</a:t>
                      </a:r>
                      <a:endParaRPr lang="he-IL" sz="1400" dirty="0"/>
                    </a:p>
                  </a:txBody>
                  <a:tcPr marL="68580" marR="68580" marT="34290" marB="34290"/>
                </a:tc>
                <a:tc>
                  <a:txBody>
                    <a:bodyPr/>
                    <a:lstStyle/>
                    <a:p>
                      <a:pPr algn="ctr" rtl="1"/>
                      <a:r>
                        <a:rPr lang="he-IL" sz="1400"/>
                        <a:t>74%</a:t>
                      </a:r>
                      <a:endParaRPr lang="he-IL" sz="1400" dirty="0"/>
                    </a:p>
                  </a:txBody>
                  <a:tcPr marL="68580" marR="68580" marT="34290" marB="34290"/>
                </a:tc>
                <a:tc>
                  <a:txBody>
                    <a:bodyPr/>
                    <a:lstStyle/>
                    <a:p>
                      <a:pPr algn="ctr" rtl="1"/>
                      <a:r>
                        <a:rPr lang="he-IL" sz="1400"/>
                        <a:t>26%</a:t>
                      </a:r>
                      <a:endParaRPr lang="he-IL" sz="1400" dirty="0"/>
                    </a:p>
                  </a:txBody>
                  <a:tcPr marL="68580" marR="68580" marT="34290" marB="34290"/>
                </a:tc>
                <a:extLst>
                  <a:ext uri="{0D108BD9-81ED-4DB2-BD59-A6C34878D82A}">
                    <a16:rowId xmlns:a16="http://schemas.microsoft.com/office/drawing/2014/main" val="1270780188"/>
                  </a:ext>
                </a:extLst>
              </a:tr>
            </a:tbl>
          </a:graphicData>
        </a:graphic>
      </p:graphicFrame>
      <p:sp>
        <p:nvSpPr>
          <p:cNvPr id="5" name="TextBox 4"/>
          <p:cNvSpPr txBox="1"/>
          <p:nvPr/>
        </p:nvSpPr>
        <p:spPr>
          <a:xfrm>
            <a:off x="1541503" y="3341068"/>
            <a:ext cx="7149714" cy="276999"/>
          </a:xfrm>
          <a:prstGeom prst="rect">
            <a:avLst/>
          </a:prstGeom>
          <a:noFill/>
        </p:spPr>
        <p:txBody>
          <a:bodyPr wrap="none" rtlCol="1">
            <a:spAutoFit/>
          </a:bodyPr>
          <a:lstStyle/>
          <a:p>
            <a:r>
              <a:rPr lang="he-IL" sz="1200"/>
              <a:t>מקור: בקשת חופש מידע ראשונה, ע"פ מענה קופ"ח כללית מיום 08.05.2022 ומענה קופ"ח מאוחדת מיום 11.04.2022</a:t>
            </a:r>
            <a:endParaRPr lang="he-IL" sz="1200" dirty="0"/>
          </a:p>
        </p:txBody>
      </p:sp>
      <p:sp>
        <p:nvSpPr>
          <p:cNvPr id="3" name="Footer Placeholder 2">
            <a:extLst>
              <a:ext uri="{FF2B5EF4-FFF2-40B4-BE49-F238E27FC236}">
                <a16:creationId xmlns:a16="http://schemas.microsoft.com/office/drawing/2014/main" id="{0BF111F6-E8A1-4FD3-4AA9-28E4498E247B}"/>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2981106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F13EAFE4-7E17-9060-D428-5C1CDFAB0301}"/>
              </a:ext>
            </a:extLst>
          </p:cNvPr>
          <p:cNvSpPr txBox="1">
            <a:spLocks/>
          </p:cNvSpPr>
          <p:nvPr/>
        </p:nvSpPr>
        <p:spPr>
          <a:xfrm>
            <a:off x="628650" y="365125"/>
            <a:ext cx="7886700" cy="132556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defTabSz="914400" rtl="1">
              <a:lnSpc>
                <a:spcPct val="90000"/>
              </a:lnSpc>
              <a:spcAft>
                <a:spcPts val="600"/>
              </a:spcAft>
            </a:pPr>
            <a:r>
              <a:rPr lang="en-US" sz="4700" kern="1200">
                <a:solidFill>
                  <a:schemeClr val="tx1"/>
                </a:solidFill>
                <a:latin typeface="+mj-lt"/>
                <a:ea typeface="+mj-ea"/>
                <a:cs typeface="+mj-cs"/>
              </a:rPr>
              <a:t>שיטות:</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587597D-03FF-4A79-7A22-5F7C6850FCE2}"/>
              </a:ext>
            </a:extLst>
          </p:cNvPr>
          <p:cNvSpPr txBox="1"/>
          <p:nvPr/>
        </p:nvSpPr>
        <p:spPr>
          <a:xfrm>
            <a:off x="628650" y="1929384"/>
            <a:ext cx="7886700" cy="4251960"/>
          </a:xfrm>
          <a:prstGeom prst="rect">
            <a:avLst/>
          </a:prstGeom>
        </p:spPr>
        <p:txBody>
          <a:bodyPr vert="horz" lIns="91440" tIns="45720" rIns="91440" bIns="45720" rtlCol="0">
            <a:normAutofit/>
          </a:bodyPr>
          <a:lstStyle/>
          <a:p>
            <a:pPr marL="285750" indent="-228600" algn="r" defTabSz="914400" rtl="1">
              <a:lnSpc>
                <a:spcPct val="90000"/>
              </a:lnSpc>
              <a:spcAft>
                <a:spcPts val="600"/>
              </a:spcAft>
              <a:buFont typeface="Arial" panose="020B0604020202020204" pitchFamily="34" charset="0"/>
              <a:buChar char="•"/>
            </a:pPr>
            <a:r>
              <a:rPr lang="en-US" sz="1900" dirty="0" err="1"/>
              <a:t>הנתונים</a:t>
            </a:r>
            <a:r>
              <a:rPr lang="en-US" sz="1900" dirty="0"/>
              <a:t> </a:t>
            </a:r>
            <a:r>
              <a:rPr lang="en-US" sz="1900" dirty="0" err="1"/>
              <a:t>מנורמלים</a:t>
            </a:r>
            <a:r>
              <a:rPr lang="en-US" sz="1900" dirty="0"/>
              <a:t> ל10000 </a:t>
            </a:r>
            <a:r>
              <a:rPr lang="en-US" sz="1900" dirty="0" err="1"/>
              <a:t>איש</a:t>
            </a:r>
            <a:r>
              <a:rPr lang="en-US" sz="1900" dirty="0"/>
              <a:t> </a:t>
            </a:r>
            <a:r>
              <a:rPr lang="en-US" sz="1900" dirty="0" err="1"/>
              <a:t>ע״פ</a:t>
            </a:r>
            <a:r>
              <a:rPr lang="en-US" sz="1900" dirty="0"/>
              <a:t> </a:t>
            </a:r>
            <a:r>
              <a:rPr lang="en-US" sz="1900" dirty="0" err="1"/>
              <a:t>נתוני</a:t>
            </a:r>
            <a:r>
              <a:rPr lang="en-US" sz="1900" dirty="0"/>
              <a:t> </a:t>
            </a:r>
            <a:r>
              <a:rPr lang="en-US" sz="1900" dirty="0" err="1"/>
              <a:t>מבוטחים</a:t>
            </a:r>
            <a:r>
              <a:rPr lang="en-US" sz="1900" dirty="0"/>
              <a:t> </a:t>
            </a:r>
            <a:r>
              <a:rPr lang="en-US" sz="1900" dirty="0" err="1"/>
              <a:t>בהפעלה</a:t>
            </a:r>
            <a:r>
              <a:rPr lang="en-US" sz="1900" dirty="0"/>
              <a:t> </a:t>
            </a:r>
            <a:r>
              <a:rPr lang="en-US" sz="1900" dirty="0" err="1"/>
              <a:t>ישירה</a:t>
            </a:r>
            <a:r>
              <a:rPr lang="en-US" sz="1900" dirty="0"/>
              <a:t> </a:t>
            </a:r>
            <a:r>
              <a:rPr lang="en-US" sz="1900" dirty="0" err="1"/>
              <a:t>מול</a:t>
            </a:r>
            <a:r>
              <a:rPr lang="en-US" sz="1900" dirty="0"/>
              <a:t> </a:t>
            </a:r>
            <a:r>
              <a:rPr lang="en-US" sz="1900" dirty="0" err="1"/>
              <a:t>קבלן</a:t>
            </a:r>
            <a:r>
              <a:rPr lang="en-US" sz="1900" dirty="0"/>
              <a:t>.</a:t>
            </a:r>
          </a:p>
          <a:p>
            <a:pPr marL="285750" indent="-228600" algn="r" defTabSz="914400" rtl="1">
              <a:lnSpc>
                <a:spcPct val="90000"/>
              </a:lnSpc>
              <a:spcAft>
                <a:spcPts val="600"/>
              </a:spcAft>
              <a:buFont typeface="Arial" panose="020B0604020202020204" pitchFamily="34" charset="0"/>
              <a:buChar char="•"/>
            </a:pPr>
            <a:r>
              <a:rPr lang="en-US" sz="1900" dirty="0" err="1"/>
              <a:t>כל</a:t>
            </a:r>
            <a:r>
              <a:rPr lang="en-US" sz="1900" dirty="0"/>
              <a:t> </a:t>
            </a:r>
            <a:r>
              <a:rPr lang="en-US" sz="1900" dirty="0" err="1"/>
              <a:t>הנתונים</a:t>
            </a:r>
            <a:r>
              <a:rPr lang="en-US" sz="1900" dirty="0"/>
              <a:t> (</a:t>
            </a:r>
            <a:r>
              <a:rPr lang="en-US" sz="1900" dirty="0" err="1"/>
              <a:t>מונה</a:t>
            </a:r>
            <a:r>
              <a:rPr lang="en-US" sz="1900" dirty="0"/>
              <a:t> </a:t>
            </a:r>
            <a:r>
              <a:rPr lang="en-US" sz="1900" dirty="0" err="1"/>
              <a:t>ומכנה</a:t>
            </a:r>
            <a:r>
              <a:rPr lang="en-US" sz="1900" dirty="0"/>
              <a:t>) </a:t>
            </a:r>
            <a:r>
              <a:rPr lang="en-US" sz="1900" dirty="0" err="1"/>
              <a:t>מבוססים</a:t>
            </a:r>
            <a:r>
              <a:rPr lang="en-US" sz="1900" dirty="0"/>
              <a:t> </a:t>
            </a:r>
            <a:r>
              <a:rPr lang="en-US" sz="1900" dirty="0" err="1"/>
              <a:t>על</a:t>
            </a:r>
            <a:r>
              <a:rPr lang="en-US" sz="1900" dirty="0"/>
              <a:t> </a:t>
            </a:r>
            <a:r>
              <a:rPr lang="en-US" sz="1900" dirty="0" err="1"/>
              <a:t>דיווח</a:t>
            </a:r>
            <a:r>
              <a:rPr lang="en-US" sz="1900" dirty="0"/>
              <a:t> </a:t>
            </a:r>
            <a:r>
              <a:rPr lang="en-US" sz="1900" dirty="0" err="1"/>
              <a:t>קופת</a:t>
            </a:r>
            <a:r>
              <a:rPr lang="en-US" sz="1900" dirty="0"/>
              <a:t> </a:t>
            </a:r>
            <a:r>
              <a:rPr lang="en-US" sz="1900" dirty="0" err="1"/>
              <a:t>חולים</a:t>
            </a:r>
            <a:r>
              <a:rPr lang="en-US" sz="1900" dirty="0"/>
              <a:t> </a:t>
            </a:r>
            <a:r>
              <a:rPr lang="en-US" sz="1900" dirty="0" err="1"/>
              <a:t>כללית</a:t>
            </a:r>
            <a:r>
              <a:rPr lang="en-US" sz="1900" dirty="0"/>
              <a:t> </a:t>
            </a:r>
            <a:r>
              <a:rPr lang="en-US" sz="1900" dirty="0" err="1"/>
              <a:t>כפי</a:t>
            </a:r>
            <a:r>
              <a:rPr lang="en-US" sz="1900" dirty="0"/>
              <a:t> </a:t>
            </a:r>
            <a:r>
              <a:rPr lang="en-US" sz="1900" dirty="0" err="1"/>
              <a:t>שהתקבלו</a:t>
            </a:r>
            <a:r>
              <a:rPr lang="en-US" sz="1900" dirty="0"/>
              <a:t> </a:t>
            </a:r>
            <a:r>
              <a:rPr lang="en-US" sz="1900" dirty="0" err="1"/>
              <a:t>בבקשות</a:t>
            </a:r>
            <a:r>
              <a:rPr lang="en-US" sz="1900" dirty="0"/>
              <a:t> </a:t>
            </a:r>
            <a:r>
              <a:rPr lang="en-US" sz="1900" dirty="0" err="1"/>
              <a:t>חופש</a:t>
            </a:r>
            <a:r>
              <a:rPr lang="en-US" sz="1900" dirty="0"/>
              <a:t> </a:t>
            </a:r>
            <a:r>
              <a:rPr lang="en-US" sz="1900" dirty="0" err="1"/>
              <a:t>מידע</a:t>
            </a:r>
            <a:r>
              <a:rPr lang="en-US" sz="1900" dirty="0"/>
              <a:t> </a:t>
            </a:r>
            <a:r>
              <a:rPr lang="en-US" sz="1900" dirty="0" err="1"/>
              <a:t>שהוגשו</a:t>
            </a:r>
            <a:r>
              <a:rPr lang="en-US" sz="1900" dirty="0"/>
              <a:t> </a:t>
            </a:r>
            <a:r>
              <a:rPr lang="en-US" sz="1900" dirty="0" err="1"/>
              <a:t>מטעם</a:t>
            </a:r>
            <a:r>
              <a:rPr lang="en-US" sz="1900" dirty="0"/>
              <a:t> </a:t>
            </a:r>
            <a:r>
              <a:rPr lang="en-US" sz="1900" dirty="0" err="1"/>
              <a:t>האגודה</a:t>
            </a:r>
            <a:r>
              <a:rPr lang="en-US" sz="1900" dirty="0"/>
              <a:t> </a:t>
            </a:r>
            <a:r>
              <a:rPr lang="en-US" sz="1900" dirty="0" err="1"/>
              <a:t>לזכויות</a:t>
            </a:r>
            <a:r>
              <a:rPr lang="en-US" sz="1900" dirty="0"/>
              <a:t> </a:t>
            </a:r>
            <a:r>
              <a:rPr lang="en-US" sz="1900" dirty="0" err="1"/>
              <a:t>האזרח</a:t>
            </a:r>
            <a:r>
              <a:rPr lang="en-US" sz="1900" dirty="0"/>
              <a:t> </a:t>
            </a:r>
            <a:r>
              <a:rPr lang="en-US" sz="1900" dirty="0" err="1"/>
              <a:t>ומטעם</a:t>
            </a:r>
            <a:r>
              <a:rPr lang="en-US" sz="1900" dirty="0"/>
              <a:t> </a:t>
            </a:r>
            <a:r>
              <a:rPr lang="en-US" sz="1900" dirty="0" err="1"/>
              <a:t>מרכז</a:t>
            </a:r>
            <a:r>
              <a:rPr lang="en-US" sz="1900" dirty="0"/>
              <a:t> </a:t>
            </a:r>
            <a:r>
              <a:rPr lang="en-US" sz="1900" dirty="0" err="1"/>
              <a:t>טאוב</a:t>
            </a:r>
            <a:r>
              <a:rPr lang="en-US" sz="1900" dirty="0"/>
              <a:t>.</a:t>
            </a:r>
          </a:p>
          <a:p>
            <a:pPr marL="285750" indent="-228600" algn="r" defTabSz="914400" rtl="1">
              <a:lnSpc>
                <a:spcPct val="90000"/>
              </a:lnSpc>
              <a:spcAft>
                <a:spcPts val="600"/>
              </a:spcAft>
              <a:buFont typeface="Arial" panose="020B0604020202020204" pitchFamily="34" charset="0"/>
              <a:buChar char="•"/>
            </a:pPr>
            <a:r>
              <a:rPr lang="en-US" sz="1900" dirty="0" err="1"/>
              <a:t>ההבדלים</a:t>
            </a:r>
            <a:r>
              <a:rPr lang="en-US" sz="1900" dirty="0"/>
              <a:t> </a:t>
            </a:r>
            <a:r>
              <a:rPr lang="en-US" sz="1900" dirty="0" err="1"/>
              <a:t>בין</a:t>
            </a:r>
            <a:r>
              <a:rPr lang="en-US" sz="1900" dirty="0"/>
              <a:t> </a:t>
            </a:r>
            <a:r>
              <a:rPr lang="en-US" sz="1900" dirty="0" err="1"/>
              <a:t>טיפול</a:t>
            </a:r>
            <a:r>
              <a:rPr lang="en-US" sz="1900" dirty="0"/>
              <a:t> </a:t>
            </a:r>
            <a:r>
              <a:rPr lang="en-US" sz="1900" dirty="0" err="1"/>
              <a:t>דרך</a:t>
            </a:r>
            <a:r>
              <a:rPr lang="en-US" sz="1900" dirty="0"/>
              <a:t> </a:t>
            </a:r>
            <a:r>
              <a:rPr lang="en-US" sz="1900" dirty="0" err="1"/>
              <a:t>קבלן</a:t>
            </a:r>
            <a:r>
              <a:rPr lang="en-US" sz="1900" dirty="0"/>
              <a:t> </a:t>
            </a:r>
            <a:r>
              <a:rPr lang="en-US" sz="1900" dirty="0" err="1"/>
              <a:t>ודרך</a:t>
            </a:r>
            <a:r>
              <a:rPr lang="en-US" sz="1900" dirty="0"/>
              <a:t> </a:t>
            </a:r>
            <a:r>
              <a:rPr lang="en-US" sz="1900" dirty="0" err="1"/>
              <a:t>הפעלה</a:t>
            </a:r>
            <a:r>
              <a:rPr lang="en-US" sz="1900" dirty="0"/>
              <a:t> </a:t>
            </a:r>
            <a:r>
              <a:rPr lang="en-US" sz="1900" dirty="0" err="1"/>
              <a:t>ישירה</a:t>
            </a:r>
            <a:r>
              <a:rPr lang="en-US" sz="1900" dirty="0"/>
              <a:t> </a:t>
            </a:r>
            <a:r>
              <a:rPr lang="en-US" sz="1900" dirty="0" err="1"/>
              <a:t>כולם</a:t>
            </a:r>
            <a:r>
              <a:rPr lang="en-US" sz="1900" dirty="0"/>
              <a:t> </a:t>
            </a:r>
            <a:r>
              <a:rPr lang="en-US" sz="1900" dirty="0" err="1"/>
              <a:t>מובהקים</a:t>
            </a:r>
            <a:r>
              <a:rPr lang="en-US" sz="1900" dirty="0"/>
              <a:t> </a:t>
            </a:r>
            <a:r>
              <a:rPr lang="en-US" sz="1900" dirty="0" err="1"/>
              <a:t>סטטיסטית</a:t>
            </a:r>
            <a:r>
              <a:rPr lang="en-US" sz="1900" dirty="0"/>
              <a:t> </a:t>
            </a:r>
            <a:r>
              <a:rPr lang="en-US" sz="1900" dirty="0" err="1"/>
              <a:t>למעט</a:t>
            </a:r>
            <a:r>
              <a:rPr lang="en-US" sz="1900" dirty="0"/>
              <a:t> </a:t>
            </a:r>
            <a:r>
              <a:rPr lang="en-US" sz="1900" dirty="0" err="1"/>
              <a:t>היחס</a:t>
            </a:r>
            <a:r>
              <a:rPr lang="en-US" sz="1900" dirty="0"/>
              <a:t> </a:t>
            </a:r>
            <a:r>
              <a:rPr lang="en-US" sz="1900" dirty="0" err="1"/>
              <a:t>בין</a:t>
            </a:r>
            <a:r>
              <a:rPr lang="en-US" sz="1900" dirty="0"/>
              <a:t> </a:t>
            </a:r>
            <a:r>
              <a:rPr lang="en-US" sz="1900" dirty="0" err="1"/>
              <a:t>הפניה</a:t>
            </a:r>
            <a:r>
              <a:rPr lang="en-US" sz="1900" dirty="0"/>
              <a:t> </a:t>
            </a:r>
            <a:r>
              <a:rPr lang="en-US" sz="1900" dirty="0" err="1"/>
              <a:t>לקולונסקופיה</a:t>
            </a:r>
            <a:r>
              <a:rPr lang="en-US" sz="1900" dirty="0"/>
              <a:t> </a:t>
            </a:r>
            <a:r>
              <a:rPr lang="en-US" sz="1900" dirty="0" err="1"/>
              <a:t>לאחר</a:t>
            </a:r>
            <a:r>
              <a:rPr lang="en-US" sz="1900" dirty="0"/>
              <a:t> </a:t>
            </a:r>
            <a:r>
              <a:rPr lang="en-US" sz="1900" dirty="0" err="1"/>
              <a:t>ביצוע</a:t>
            </a:r>
            <a:r>
              <a:rPr lang="en-US" sz="1900" dirty="0"/>
              <a:t> </a:t>
            </a:r>
            <a:r>
              <a:rPr lang="en-US" sz="1900" dirty="0" err="1"/>
              <a:t>בדיקת</a:t>
            </a:r>
            <a:r>
              <a:rPr lang="en-US" sz="1900" dirty="0"/>
              <a:t> </a:t>
            </a:r>
            <a:r>
              <a:rPr lang="en-US" sz="1900" dirty="0" err="1"/>
              <a:t>דם</a:t>
            </a:r>
            <a:r>
              <a:rPr lang="en-US" sz="1900" dirty="0"/>
              <a:t> </a:t>
            </a:r>
            <a:r>
              <a:rPr lang="en-US" sz="1900" dirty="0" err="1"/>
              <a:t>סמוי</a:t>
            </a:r>
            <a:r>
              <a:rPr lang="en-US" sz="1900" dirty="0"/>
              <a:t> </a:t>
            </a:r>
            <a:r>
              <a:rPr lang="en-US" sz="1900" dirty="0" err="1"/>
              <a:t>בו</a:t>
            </a:r>
            <a:r>
              <a:rPr lang="en-US" sz="1900" dirty="0"/>
              <a:t> </a:t>
            </a:r>
            <a:r>
              <a:rPr lang="en-US" sz="1900" dirty="0" err="1"/>
              <a:t>אין</a:t>
            </a:r>
            <a:r>
              <a:rPr lang="en-US" sz="1900" dirty="0"/>
              <a:t> </a:t>
            </a:r>
            <a:r>
              <a:rPr lang="en-US" sz="1900" dirty="0" err="1"/>
              <a:t>הבדל</a:t>
            </a:r>
            <a:r>
              <a:rPr lang="en-US" sz="1900" dirty="0"/>
              <a:t> </a:t>
            </a:r>
            <a:r>
              <a:rPr lang="en-US" sz="1900" dirty="0" err="1"/>
              <a:t>סטטיסטי</a:t>
            </a:r>
            <a:r>
              <a:rPr lang="en-US" sz="1900" dirty="0"/>
              <a:t> </a:t>
            </a:r>
            <a:r>
              <a:rPr lang="en-US" sz="1900" dirty="0" err="1"/>
              <a:t>בין</a:t>
            </a:r>
            <a:r>
              <a:rPr lang="en-US" sz="1900" dirty="0"/>
              <a:t> </a:t>
            </a:r>
            <a:r>
              <a:rPr lang="en-US" sz="1900" dirty="0" err="1"/>
              <a:t>הפעלה</a:t>
            </a:r>
            <a:r>
              <a:rPr lang="en-US" sz="1900" dirty="0"/>
              <a:t> </a:t>
            </a:r>
            <a:r>
              <a:rPr lang="en-US" sz="1900" dirty="0" err="1"/>
              <a:t>ישירה</a:t>
            </a:r>
            <a:r>
              <a:rPr lang="en-US" sz="1900" dirty="0"/>
              <a:t> </a:t>
            </a:r>
            <a:r>
              <a:rPr lang="en-US" sz="1900" dirty="0" err="1"/>
              <a:t>וקבלן</a:t>
            </a:r>
            <a:r>
              <a:rPr lang="en-US" sz="1900" dirty="0"/>
              <a:t>.</a:t>
            </a:r>
          </a:p>
          <a:p>
            <a:pPr marL="285750" indent="-228600" algn="r" defTabSz="914400" rtl="1">
              <a:lnSpc>
                <a:spcPct val="90000"/>
              </a:lnSpc>
              <a:spcAft>
                <a:spcPts val="600"/>
              </a:spcAft>
              <a:buFont typeface="Arial" panose="020B0604020202020204" pitchFamily="34" charset="0"/>
              <a:buChar char="•"/>
            </a:pPr>
            <a:endParaRPr lang="en-US" sz="1900" dirty="0"/>
          </a:p>
          <a:p>
            <a:pPr marL="285750" indent="-228600" algn="r" defTabSz="914400" rtl="1">
              <a:lnSpc>
                <a:spcPct val="90000"/>
              </a:lnSpc>
              <a:spcAft>
                <a:spcPts val="600"/>
              </a:spcAft>
              <a:buFont typeface="Arial" panose="020B0604020202020204" pitchFamily="34" charset="0"/>
              <a:buChar char="•"/>
            </a:pPr>
            <a:endParaRPr lang="en-US" sz="1900" dirty="0"/>
          </a:p>
        </p:txBody>
      </p:sp>
      <p:sp>
        <p:nvSpPr>
          <p:cNvPr id="4" name="Footer Placeholder 3">
            <a:extLst>
              <a:ext uri="{FF2B5EF4-FFF2-40B4-BE49-F238E27FC236}">
                <a16:creationId xmlns:a16="http://schemas.microsoft.com/office/drawing/2014/main" id="{76C30EE6-9B45-CFE8-D1E7-D27E0E1C133F}"/>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2566044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214" y="2395728"/>
            <a:ext cx="3182691" cy="18288"/>
          </a:xfrm>
          <a:custGeom>
            <a:avLst/>
            <a:gdLst>
              <a:gd name="connsiteX0" fmla="*/ 0 w 3182691"/>
              <a:gd name="connsiteY0" fmla="*/ 0 h 18288"/>
              <a:gd name="connsiteX1" fmla="*/ 636538 w 3182691"/>
              <a:gd name="connsiteY1" fmla="*/ 0 h 18288"/>
              <a:gd name="connsiteX2" fmla="*/ 1273076 w 3182691"/>
              <a:gd name="connsiteY2" fmla="*/ 0 h 18288"/>
              <a:gd name="connsiteX3" fmla="*/ 1909615 w 3182691"/>
              <a:gd name="connsiteY3" fmla="*/ 0 h 18288"/>
              <a:gd name="connsiteX4" fmla="*/ 2482499 w 3182691"/>
              <a:gd name="connsiteY4" fmla="*/ 0 h 18288"/>
              <a:gd name="connsiteX5" fmla="*/ 3182691 w 3182691"/>
              <a:gd name="connsiteY5" fmla="*/ 0 h 18288"/>
              <a:gd name="connsiteX6" fmla="*/ 3182691 w 3182691"/>
              <a:gd name="connsiteY6" fmla="*/ 18288 h 18288"/>
              <a:gd name="connsiteX7" fmla="*/ 2609807 w 3182691"/>
              <a:gd name="connsiteY7" fmla="*/ 18288 h 18288"/>
              <a:gd name="connsiteX8" fmla="*/ 2068749 w 3182691"/>
              <a:gd name="connsiteY8" fmla="*/ 18288 h 18288"/>
              <a:gd name="connsiteX9" fmla="*/ 1432211 w 3182691"/>
              <a:gd name="connsiteY9" fmla="*/ 18288 h 18288"/>
              <a:gd name="connsiteX10" fmla="*/ 859327 w 3182691"/>
              <a:gd name="connsiteY10" fmla="*/ 18288 h 18288"/>
              <a:gd name="connsiteX11" fmla="*/ 0 w 3182691"/>
              <a:gd name="connsiteY11" fmla="*/ 18288 h 18288"/>
              <a:gd name="connsiteX12" fmla="*/ 0 w 3182691"/>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041292A-57EF-88F9-DDB5-D1C8139BFA76}"/>
              </a:ext>
            </a:extLst>
          </p:cNvPr>
          <p:cNvSpPr txBox="1"/>
          <p:nvPr/>
        </p:nvSpPr>
        <p:spPr>
          <a:xfrm>
            <a:off x="480060" y="2706624"/>
            <a:ext cx="5170932" cy="3483864"/>
          </a:xfrm>
          <a:prstGeom prst="rect">
            <a:avLst/>
          </a:prstGeom>
        </p:spPr>
        <p:txBody>
          <a:bodyPr vert="horz" lIns="91440" tIns="45720" rIns="91440" bIns="45720" rtlCol="0">
            <a:normAutofit/>
          </a:bodyPr>
          <a:lstStyle/>
          <a:p>
            <a:pPr marL="0" indent="-228600" algn="r" defTabSz="914400" rtl="1">
              <a:lnSpc>
                <a:spcPct val="90000"/>
              </a:lnSpc>
              <a:spcAft>
                <a:spcPts val="600"/>
              </a:spcAft>
              <a:buFont typeface="Arial" panose="020B0604020202020204" pitchFamily="34" charset="0"/>
              <a:buChar char="•"/>
            </a:pPr>
            <a:r>
              <a:rPr lang="en-US" sz="1900" dirty="0" err="1"/>
              <a:t>בין</a:t>
            </a:r>
            <a:r>
              <a:rPr lang="en-US" sz="1900" dirty="0"/>
              <a:t> </a:t>
            </a:r>
            <a:r>
              <a:rPr lang="en-US" sz="1900" dirty="0" err="1"/>
              <a:t>פי</a:t>
            </a:r>
            <a:r>
              <a:rPr lang="en-US" sz="1900" dirty="0"/>
              <a:t> 3.3 (</a:t>
            </a:r>
            <a:r>
              <a:rPr lang="en-US" sz="1900" dirty="0" err="1"/>
              <a:t>קטינים</a:t>
            </a:r>
            <a:r>
              <a:rPr lang="en-US" sz="1900" dirty="0"/>
              <a:t>) </a:t>
            </a:r>
            <a:r>
              <a:rPr lang="en-US" sz="1900" dirty="0" err="1"/>
              <a:t>לפי</a:t>
            </a:r>
            <a:r>
              <a:rPr lang="en-US" sz="1900" dirty="0"/>
              <a:t> 4 (</a:t>
            </a:r>
            <a:r>
              <a:rPr lang="en-US" sz="1900" dirty="0" err="1"/>
              <a:t>בגירים</a:t>
            </a:r>
            <a:r>
              <a:rPr lang="en-US" sz="1900" dirty="0"/>
              <a:t>) </a:t>
            </a:r>
            <a:r>
              <a:rPr lang="en-US" sz="1900" dirty="0" err="1"/>
              <a:t>הפניות</a:t>
            </a:r>
            <a:r>
              <a:rPr lang="en-US" sz="1900" dirty="0"/>
              <a:t> </a:t>
            </a:r>
            <a:r>
              <a:rPr lang="en-US" sz="1900" dirty="0" err="1"/>
              <a:t>לחדר</a:t>
            </a:r>
            <a:r>
              <a:rPr lang="en-US" sz="1900" dirty="0"/>
              <a:t> </a:t>
            </a:r>
            <a:r>
              <a:rPr lang="en-US" sz="1900" dirty="0" err="1"/>
              <a:t>מיון</a:t>
            </a:r>
            <a:r>
              <a:rPr lang="en-US" sz="1900" dirty="0"/>
              <a:t> </a:t>
            </a:r>
            <a:r>
              <a:rPr lang="en-US" sz="1900" dirty="0" err="1"/>
              <a:t>דרך</a:t>
            </a:r>
            <a:r>
              <a:rPr lang="en-US" sz="1900" dirty="0"/>
              <a:t> </a:t>
            </a:r>
            <a:r>
              <a:rPr lang="en-US" sz="1900" dirty="0" err="1"/>
              <a:t>קבלן</a:t>
            </a:r>
            <a:r>
              <a:rPr lang="en-US" sz="1900" dirty="0"/>
              <a:t> </a:t>
            </a:r>
            <a:r>
              <a:rPr lang="en-US" sz="1900" dirty="0" err="1"/>
              <a:t>מול</a:t>
            </a:r>
            <a:r>
              <a:rPr lang="en-US" sz="1900" dirty="0"/>
              <a:t> </a:t>
            </a:r>
            <a:r>
              <a:rPr lang="en-US" sz="1900" dirty="0" err="1"/>
              <a:t>הפעלה</a:t>
            </a:r>
            <a:r>
              <a:rPr lang="en-US" sz="1900" dirty="0"/>
              <a:t> </a:t>
            </a:r>
            <a:r>
              <a:rPr lang="en-US" sz="1900" dirty="0" err="1"/>
              <a:t>ישירה</a:t>
            </a:r>
            <a:endParaRPr lang="en-US" sz="1900" dirty="0"/>
          </a:p>
          <a:p>
            <a:pPr marL="0" indent="-228600" algn="r" defTabSz="914400" rtl="1">
              <a:lnSpc>
                <a:spcPct val="90000"/>
              </a:lnSpc>
              <a:spcAft>
                <a:spcPts val="600"/>
              </a:spcAft>
              <a:buFont typeface="Arial" panose="020B0604020202020204" pitchFamily="34" charset="0"/>
              <a:buChar char="•"/>
            </a:pPr>
            <a:endParaRPr lang="en-US" sz="1900" dirty="0"/>
          </a:p>
          <a:p>
            <a:pPr marL="0" indent="-228600" algn="r" defTabSz="914400" rtl="1">
              <a:lnSpc>
                <a:spcPct val="90000"/>
              </a:lnSpc>
              <a:spcAft>
                <a:spcPts val="600"/>
              </a:spcAft>
              <a:buFont typeface="Arial" panose="020B0604020202020204" pitchFamily="34" charset="0"/>
              <a:buChar char="•"/>
            </a:pPr>
            <a:r>
              <a:rPr lang="en-US" sz="1900" dirty="0" err="1"/>
              <a:t>מבין</a:t>
            </a:r>
            <a:r>
              <a:rPr lang="en-US" sz="1900" dirty="0"/>
              <a:t> </a:t>
            </a:r>
            <a:r>
              <a:rPr lang="en-US" sz="1900" dirty="0" err="1"/>
              <a:t>הקטינים</a:t>
            </a:r>
            <a:r>
              <a:rPr lang="en-US" sz="1900" dirty="0"/>
              <a:t>: </a:t>
            </a:r>
            <a:r>
              <a:rPr lang="en-US" sz="1900" dirty="0" err="1"/>
              <a:t>בין</a:t>
            </a:r>
            <a:r>
              <a:rPr lang="en-US" sz="1900" dirty="0"/>
              <a:t> 13%ל-21% </a:t>
            </a:r>
            <a:r>
              <a:rPr lang="en-US" sz="1900" dirty="0" err="1"/>
              <a:t>מהמבוטחים</a:t>
            </a:r>
            <a:r>
              <a:rPr lang="en-US" sz="1900" dirty="0"/>
              <a:t> </a:t>
            </a:r>
            <a:r>
              <a:rPr lang="en-US" sz="1900" dirty="0" err="1"/>
              <a:t>במרפאות</a:t>
            </a:r>
            <a:r>
              <a:rPr lang="en-US" sz="1900" dirty="0"/>
              <a:t> </a:t>
            </a:r>
            <a:r>
              <a:rPr lang="en-US" sz="1900" dirty="0" err="1"/>
              <a:t>קבלניות</a:t>
            </a:r>
            <a:r>
              <a:rPr lang="en-US" sz="1900" dirty="0"/>
              <a:t> </a:t>
            </a:r>
            <a:r>
              <a:rPr lang="en-US" sz="1900" dirty="0" err="1"/>
              <a:t>מופנים</a:t>
            </a:r>
            <a:r>
              <a:rPr lang="en-US" sz="1900" dirty="0"/>
              <a:t> </a:t>
            </a:r>
            <a:r>
              <a:rPr lang="en-US" sz="1900" dirty="0" err="1"/>
              <a:t>לחדר</a:t>
            </a:r>
            <a:r>
              <a:rPr lang="en-US" sz="1900" dirty="0"/>
              <a:t> </a:t>
            </a:r>
            <a:r>
              <a:rPr lang="en-US" sz="1900" dirty="0" err="1"/>
              <a:t>מיון</a:t>
            </a:r>
            <a:r>
              <a:rPr lang="en-US" sz="1900" dirty="0"/>
              <a:t> </a:t>
            </a:r>
            <a:r>
              <a:rPr lang="en-US" sz="1900" dirty="0" err="1"/>
              <a:t>לעומת</a:t>
            </a:r>
            <a:r>
              <a:rPr lang="en-US" sz="1900" dirty="0"/>
              <a:t> 3.3%-5% </a:t>
            </a:r>
            <a:r>
              <a:rPr lang="en-US" sz="1900" dirty="0" err="1"/>
              <a:t>מהמבוטחים</a:t>
            </a:r>
            <a:r>
              <a:rPr lang="en-US" sz="1900" dirty="0"/>
              <a:t> </a:t>
            </a:r>
            <a:r>
              <a:rPr lang="en-US" sz="1900" dirty="0" err="1"/>
              <a:t>במרפאות</a:t>
            </a:r>
            <a:r>
              <a:rPr lang="en-US" sz="1900" dirty="0"/>
              <a:t> </a:t>
            </a:r>
            <a:r>
              <a:rPr lang="en-US" sz="1900" dirty="0" err="1"/>
              <a:t>בהפעלה</a:t>
            </a:r>
            <a:r>
              <a:rPr lang="en-US" sz="1900" dirty="0"/>
              <a:t> </a:t>
            </a:r>
            <a:r>
              <a:rPr lang="en-US" sz="1900" dirty="0" err="1"/>
              <a:t>ישירה</a:t>
            </a:r>
            <a:r>
              <a:rPr lang="en-US" sz="1900" dirty="0"/>
              <a:t> </a:t>
            </a:r>
          </a:p>
          <a:p>
            <a:pPr marL="0" indent="-228600" algn="r" defTabSz="914400" rtl="1">
              <a:lnSpc>
                <a:spcPct val="90000"/>
              </a:lnSpc>
              <a:spcAft>
                <a:spcPts val="600"/>
              </a:spcAft>
              <a:buFont typeface="Arial" panose="020B0604020202020204" pitchFamily="34" charset="0"/>
              <a:buChar char="•"/>
            </a:pPr>
            <a:endParaRPr lang="en-US" sz="1900" dirty="0"/>
          </a:p>
          <a:p>
            <a:pPr marL="0" indent="-228600" algn="r" defTabSz="914400" rtl="1">
              <a:lnSpc>
                <a:spcPct val="90000"/>
              </a:lnSpc>
              <a:spcAft>
                <a:spcPts val="600"/>
              </a:spcAft>
              <a:buFont typeface="Arial" panose="020B0604020202020204" pitchFamily="34" charset="0"/>
              <a:buChar char="•"/>
            </a:pPr>
            <a:r>
              <a:rPr lang="en-US" sz="1900" dirty="0" err="1"/>
              <a:t>מבין</a:t>
            </a:r>
            <a:r>
              <a:rPr lang="en-US" sz="1900" dirty="0"/>
              <a:t> </a:t>
            </a:r>
            <a:r>
              <a:rPr lang="en-US" sz="1900" dirty="0" err="1"/>
              <a:t>הבגירים</a:t>
            </a:r>
            <a:r>
              <a:rPr lang="en-US" sz="1900" dirty="0"/>
              <a:t>: </a:t>
            </a:r>
            <a:r>
              <a:rPr lang="en-US" sz="1900" dirty="0" err="1"/>
              <a:t>בין</a:t>
            </a:r>
            <a:r>
              <a:rPr lang="en-US" sz="1900" dirty="0"/>
              <a:t> 27% - 32.5% </a:t>
            </a:r>
            <a:r>
              <a:rPr lang="en-US" sz="1900" dirty="0" err="1"/>
              <a:t>מהמבוטחים</a:t>
            </a:r>
            <a:r>
              <a:rPr lang="en-US" sz="1900" dirty="0"/>
              <a:t> </a:t>
            </a:r>
            <a:r>
              <a:rPr lang="en-US" sz="1900" dirty="0" err="1"/>
              <a:t>במרפאות</a:t>
            </a:r>
            <a:r>
              <a:rPr lang="en-US" sz="1900" dirty="0"/>
              <a:t> </a:t>
            </a:r>
            <a:r>
              <a:rPr lang="en-US" sz="1900" dirty="0" err="1"/>
              <a:t>קבלניות</a:t>
            </a:r>
            <a:r>
              <a:rPr lang="en-US" sz="1900" dirty="0"/>
              <a:t> </a:t>
            </a:r>
            <a:r>
              <a:rPr lang="en-US" sz="1900" dirty="0" err="1"/>
              <a:t>מופנים</a:t>
            </a:r>
            <a:r>
              <a:rPr lang="en-US" sz="1900" dirty="0"/>
              <a:t> </a:t>
            </a:r>
            <a:r>
              <a:rPr lang="en-US" sz="1900" dirty="0" err="1"/>
              <a:t>לחדר</a:t>
            </a:r>
            <a:r>
              <a:rPr lang="en-US" sz="1900" dirty="0"/>
              <a:t> </a:t>
            </a:r>
            <a:r>
              <a:rPr lang="en-US" sz="1900" dirty="0" err="1"/>
              <a:t>מיון</a:t>
            </a:r>
            <a:r>
              <a:rPr lang="en-US" sz="1900" dirty="0"/>
              <a:t> </a:t>
            </a:r>
            <a:r>
              <a:rPr lang="en-US" sz="1900" dirty="0" err="1"/>
              <a:t>לעומת</a:t>
            </a:r>
            <a:r>
              <a:rPr lang="en-US" sz="1900" dirty="0"/>
              <a:t> 8%-9.6% </a:t>
            </a:r>
            <a:r>
              <a:rPr lang="en-US" sz="1900" dirty="0" err="1"/>
              <a:t>מהמבוטחים</a:t>
            </a:r>
            <a:r>
              <a:rPr lang="en-US" sz="1900" dirty="0"/>
              <a:t> </a:t>
            </a:r>
            <a:r>
              <a:rPr lang="en-US" sz="1900" dirty="0" err="1"/>
              <a:t>במרפאות</a:t>
            </a:r>
            <a:r>
              <a:rPr lang="en-US" sz="1900" dirty="0"/>
              <a:t> </a:t>
            </a:r>
            <a:r>
              <a:rPr lang="en-US" sz="1900" dirty="0" err="1"/>
              <a:t>בהפעלה</a:t>
            </a:r>
            <a:r>
              <a:rPr lang="en-US" sz="1900" dirty="0"/>
              <a:t> </a:t>
            </a:r>
            <a:r>
              <a:rPr lang="en-US" sz="1900" dirty="0" err="1"/>
              <a:t>ישירה</a:t>
            </a:r>
            <a:r>
              <a:rPr lang="en-US" sz="1900" dirty="0"/>
              <a:t>. </a:t>
            </a:r>
          </a:p>
        </p:txBody>
      </p:sp>
      <p:pic>
        <p:nvPicPr>
          <p:cNvPr id="6" name="Picture 5" descr="Form17_Total_Adult.png">
            <a:extLst>
              <a:ext uri="{FF2B5EF4-FFF2-40B4-BE49-F238E27FC236}">
                <a16:creationId xmlns:a16="http://schemas.microsoft.com/office/drawing/2014/main" id="{087F4A8C-0B23-6252-1580-C7D9101DE719}"/>
              </a:ext>
            </a:extLst>
          </p:cNvPr>
          <p:cNvPicPr>
            <a:picLocks noChangeAspect="1"/>
          </p:cNvPicPr>
          <p:nvPr/>
        </p:nvPicPr>
        <p:blipFill>
          <a:blip r:embed="rId2"/>
          <a:stretch>
            <a:fillRect/>
          </a:stretch>
        </p:blipFill>
        <p:spPr>
          <a:xfrm>
            <a:off x="5897880" y="888826"/>
            <a:ext cx="3010662" cy="2310682"/>
          </a:xfrm>
          <a:prstGeom prst="rect">
            <a:avLst/>
          </a:prstGeom>
        </p:spPr>
      </p:pic>
      <p:pic>
        <p:nvPicPr>
          <p:cNvPr id="2" name="Picture 1" descr="Form17_Total_Minor.png"/>
          <p:cNvPicPr>
            <a:picLocks noChangeAspect="1"/>
          </p:cNvPicPr>
          <p:nvPr/>
        </p:nvPicPr>
        <p:blipFill>
          <a:blip r:embed="rId3"/>
          <a:stretch>
            <a:fillRect/>
          </a:stretch>
        </p:blipFill>
        <p:spPr>
          <a:xfrm>
            <a:off x="5978586" y="4079193"/>
            <a:ext cx="2835533" cy="2176272"/>
          </a:xfrm>
          <a:prstGeom prst="rect">
            <a:avLst/>
          </a:prstGeom>
        </p:spPr>
      </p:pic>
      <p:sp>
        <p:nvSpPr>
          <p:cNvPr id="3" name="Footer Placeholder 2">
            <a:extLst>
              <a:ext uri="{FF2B5EF4-FFF2-40B4-BE49-F238E27FC236}">
                <a16:creationId xmlns:a16="http://schemas.microsoft.com/office/drawing/2014/main" id="{E632AFE9-E2B6-5CFE-CD25-9331A65F27FA}"/>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0-11-Referred.png"/>
          <p:cNvPicPr>
            <a:picLocks noChangeAspect="1"/>
          </p:cNvPicPr>
          <p:nvPr/>
        </p:nvPicPr>
        <p:blipFill>
          <a:blip r:embed="rId2"/>
          <a:stretch>
            <a:fillRect/>
          </a:stretch>
        </p:blipFill>
        <p:spPr>
          <a:xfrm>
            <a:off x="457200" y="457200"/>
            <a:ext cx="6535815" cy="5029200"/>
          </a:xfrm>
          <a:prstGeom prst="rect">
            <a:avLst/>
          </a:prstGeom>
        </p:spPr>
      </p:pic>
      <p:sp>
        <p:nvSpPr>
          <p:cNvPr id="6" name="TextBox 5">
            <a:extLst>
              <a:ext uri="{FF2B5EF4-FFF2-40B4-BE49-F238E27FC236}">
                <a16:creationId xmlns:a16="http://schemas.microsoft.com/office/drawing/2014/main" id="{7CE24153-E40D-F18C-9F08-58E253138F02}"/>
              </a:ext>
            </a:extLst>
          </p:cNvPr>
          <p:cNvSpPr txBox="1"/>
          <p:nvPr/>
        </p:nvSpPr>
        <p:spPr>
          <a:xfrm>
            <a:off x="1148316" y="5603358"/>
            <a:ext cx="7091917" cy="1200329"/>
          </a:xfrm>
          <a:prstGeom prst="rect">
            <a:avLst/>
          </a:prstGeom>
          <a:noFill/>
        </p:spPr>
        <p:txBody>
          <a:bodyPr wrap="square" rtlCol="0">
            <a:spAutoFit/>
          </a:bodyPr>
          <a:lstStyle/>
          <a:p>
            <a:pPr marL="0" algn="r" defTabSz="457200" rtl="1" eaLnBrk="1" latinLnBrk="0" hangingPunct="1"/>
            <a:r>
              <a:rPr lang="he-IL" dirty="0"/>
              <a:t>פי 3.2 הפניות לאבחון עיכוב שפתי דרך הפעלה ישירה מול קבלן.</a:t>
            </a:r>
          </a:p>
          <a:p>
            <a:pPr marL="0" algn="r" defTabSz="457200" rtl="1" eaLnBrk="1" latinLnBrk="0" hangingPunct="1"/>
            <a:r>
              <a:rPr lang="he-IL" dirty="0"/>
              <a:t>3.3%-2.2% מהמבוטחים במרפאות קבלן מופנים לאבחון עיכוב שפתי, לעומת 9.8%-7.4% מהמבוטחים במרפאות בהפעלה ישירה.  </a:t>
            </a:r>
          </a:p>
          <a:p>
            <a:pPr marL="0" algn="r" defTabSz="457200" rtl="1" eaLnBrk="1" latinLnBrk="0" hangingPunct="1"/>
            <a:r>
              <a:rPr lang="he-IL" dirty="0"/>
              <a:t> </a:t>
            </a:r>
            <a:endParaRPr lang="en-US" dirty="0"/>
          </a:p>
        </p:txBody>
      </p:sp>
      <p:sp>
        <p:nvSpPr>
          <p:cNvPr id="3" name="Footer Placeholder 2">
            <a:extLst>
              <a:ext uri="{FF2B5EF4-FFF2-40B4-BE49-F238E27FC236}">
                <a16:creationId xmlns:a16="http://schemas.microsoft.com/office/drawing/2014/main" id="{86452065-039B-2AFC-E9F9-6382B3F3C8CF}"/>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0-11-Diagnosed.png"/>
          <p:cNvPicPr>
            <a:picLocks noChangeAspect="1"/>
          </p:cNvPicPr>
          <p:nvPr/>
        </p:nvPicPr>
        <p:blipFill>
          <a:blip r:embed="rId2"/>
          <a:stretch>
            <a:fillRect/>
          </a:stretch>
        </p:blipFill>
        <p:spPr>
          <a:xfrm>
            <a:off x="457200" y="457200"/>
            <a:ext cx="6535815" cy="5029200"/>
          </a:xfrm>
          <a:prstGeom prst="rect">
            <a:avLst/>
          </a:prstGeom>
        </p:spPr>
      </p:pic>
      <p:sp>
        <p:nvSpPr>
          <p:cNvPr id="4" name="TextBox 3">
            <a:extLst>
              <a:ext uri="{FF2B5EF4-FFF2-40B4-BE49-F238E27FC236}">
                <a16:creationId xmlns:a16="http://schemas.microsoft.com/office/drawing/2014/main" id="{507E7A57-5FC1-5C3E-8106-B40E024F7799}"/>
              </a:ext>
            </a:extLst>
          </p:cNvPr>
          <p:cNvSpPr txBox="1"/>
          <p:nvPr/>
        </p:nvSpPr>
        <p:spPr>
          <a:xfrm>
            <a:off x="1148316" y="5603358"/>
            <a:ext cx="7091917" cy="1200329"/>
          </a:xfrm>
          <a:prstGeom prst="rect">
            <a:avLst/>
          </a:prstGeom>
          <a:noFill/>
        </p:spPr>
        <p:txBody>
          <a:bodyPr wrap="square" rtlCol="0">
            <a:spAutoFit/>
          </a:bodyPr>
          <a:lstStyle/>
          <a:p>
            <a:pPr marL="0" algn="r" defTabSz="457200" rtl="1" eaLnBrk="1" latinLnBrk="0" hangingPunct="1"/>
            <a:r>
              <a:rPr lang="he-IL"/>
              <a:t>פי 5.3 אבחוני עיכוב שפתי דרך הפעלה ישירה מול קבלן </a:t>
            </a:r>
          </a:p>
          <a:p>
            <a:pPr algn="r" rtl="1"/>
            <a:r>
              <a:rPr lang="he-IL"/>
              <a:t>2.7%-1% מהמבוטחים במרפאות קבלן מאובחנים עם עיכוב שפתי, לעומת 9.6%-7.3% מהמבוטחים במרפאות בהפעלה ישירה.  </a:t>
            </a:r>
          </a:p>
          <a:p>
            <a:pPr marL="0" algn="r" defTabSz="457200" rtl="1" eaLnBrk="1" latinLnBrk="0" hangingPunct="1"/>
            <a:r>
              <a:rPr lang="he-IL"/>
              <a:t> </a:t>
            </a:r>
            <a:endParaRPr lang="en-US" dirty="0"/>
          </a:p>
        </p:txBody>
      </p:sp>
      <p:sp>
        <p:nvSpPr>
          <p:cNvPr id="3" name="Footer Placeholder 2">
            <a:extLst>
              <a:ext uri="{FF2B5EF4-FFF2-40B4-BE49-F238E27FC236}">
                <a16:creationId xmlns:a16="http://schemas.microsoft.com/office/drawing/2014/main" id="{C0C3A3F1-780D-F2FF-684F-FB8B63F34C89}"/>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0-11-Treated.png"/>
          <p:cNvPicPr>
            <a:picLocks noChangeAspect="1"/>
          </p:cNvPicPr>
          <p:nvPr/>
        </p:nvPicPr>
        <p:blipFill>
          <a:blip r:embed="rId2"/>
          <a:stretch>
            <a:fillRect/>
          </a:stretch>
        </p:blipFill>
        <p:spPr>
          <a:xfrm>
            <a:off x="457200" y="457200"/>
            <a:ext cx="6535815" cy="5029200"/>
          </a:xfrm>
          <a:prstGeom prst="rect">
            <a:avLst/>
          </a:prstGeom>
        </p:spPr>
      </p:pic>
      <p:sp>
        <p:nvSpPr>
          <p:cNvPr id="4" name="TextBox 3">
            <a:extLst>
              <a:ext uri="{FF2B5EF4-FFF2-40B4-BE49-F238E27FC236}">
                <a16:creationId xmlns:a16="http://schemas.microsoft.com/office/drawing/2014/main" id="{05535DB3-727E-6EEA-EEAB-C9F11E2D228D}"/>
              </a:ext>
            </a:extLst>
          </p:cNvPr>
          <p:cNvSpPr txBox="1"/>
          <p:nvPr/>
        </p:nvSpPr>
        <p:spPr>
          <a:xfrm>
            <a:off x="1300716" y="5484824"/>
            <a:ext cx="7091917" cy="369332"/>
          </a:xfrm>
          <a:prstGeom prst="rect">
            <a:avLst/>
          </a:prstGeom>
          <a:noFill/>
        </p:spPr>
        <p:txBody>
          <a:bodyPr wrap="square" rtlCol="0">
            <a:spAutoFit/>
          </a:bodyPr>
          <a:lstStyle/>
          <a:p>
            <a:pPr marL="0" algn="r" defTabSz="457200" rtl="1" eaLnBrk="1" latinLnBrk="0" hangingPunct="1"/>
            <a:r>
              <a:rPr lang="he-IL" dirty="0"/>
              <a:t>פי 9.75 טיפול בעיכוב שפתי ע״י קלינאי תקשורת דרך הפעלה ישירה מול קבלן  </a:t>
            </a:r>
            <a:endParaRPr lang="en-US" dirty="0"/>
          </a:p>
        </p:txBody>
      </p:sp>
      <p:sp>
        <p:nvSpPr>
          <p:cNvPr id="5" name="TextBox 4">
            <a:extLst>
              <a:ext uri="{FF2B5EF4-FFF2-40B4-BE49-F238E27FC236}">
                <a16:creationId xmlns:a16="http://schemas.microsoft.com/office/drawing/2014/main" id="{721A7F99-51AD-8147-4331-9B13805A5EE5}"/>
              </a:ext>
            </a:extLst>
          </p:cNvPr>
          <p:cNvSpPr txBox="1"/>
          <p:nvPr/>
        </p:nvSpPr>
        <p:spPr>
          <a:xfrm>
            <a:off x="806500" y="5872378"/>
            <a:ext cx="7586133" cy="646331"/>
          </a:xfrm>
          <a:prstGeom prst="rect">
            <a:avLst/>
          </a:prstGeom>
          <a:noFill/>
        </p:spPr>
        <p:txBody>
          <a:bodyPr wrap="square">
            <a:spAutoFit/>
          </a:bodyPr>
          <a:lstStyle/>
          <a:p>
            <a:pPr marL="0" algn="r" defTabSz="457200" rtl="1" eaLnBrk="1" latinLnBrk="0" hangingPunct="1"/>
            <a:r>
              <a:rPr lang="he-IL" dirty="0"/>
              <a:t>1.1%-0.4% מהמבוטחים במרפאות קבלן מטופלים בעקבות אבחון של עיכוב שפתי, לעומת 9.3%-6% מהמבוטחים במרפאות בהפעלה ישירה.  </a:t>
            </a:r>
          </a:p>
        </p:txBody>
      </p:sp>
      <p:sp>
        <p:nvSpPr>
          <p:cNvPr id="3" name="Footer Placeholder 2">
            <a:extLst>
              <a:ext uri="{FF2B5EF4-FFF2-40B4-BE49-F238E27FC236}">
                <a16:creationId xmlns:a16="http://schemas.microsoft.com/office/drawing/2014/main" id="{2F705FD1-FDD5-1D34-1C88-2977784191FC}"/>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0-11-Ratio2.png"/>
          <p:cNvPicPr>
            <a:picLocks noChangeAspect="1"/>
          </p:cNvPicPr>
          <p:nvPr/>
        </p:nvPicPr>
        <p:blipFill>
          <a:blip r:embed="rId2"/>
          <a:stretch>
            <a:fillRect/>
          </a:stretch>
        </p:blipFill>
        <p:spPr>
          <a:xfrm>
            <a:off x="457200" y="457200"/>
            <a:ext cx="5795846" cy="5029200"/>
          </a:xfrm>
          <a:prstGeom prst="rect">
            <a:avLst/>
          </a:prstGeom>
        </p:spPr>
      </p:pic>
      <p:sp>
        <p:nvSpPr>
          <p:cNvPr id="4" name="TextBox 3">
            <a:extLst>
              <a:ext uri="{FF2B5EF4-FFF2-40B4-BE49-F238E27FC236}">
                <a16:creationId xmlns:a16="http://schemas.microsoft.com/office/drawing/2014/main" id="{F0215D16-AB0B-124A-508B-F698885F1C73}"/>
              </a:ext>
            </a:extLst>
          </p:cNvPr>
          <p:cNvSpPr txBox="1"/>
          <p:nvPr/>
        </p:nvSpPr>
        <p:spPr>
          <a:xfrm>
            <a:off x="1148316" y="5603358"/>
            <a:ext cx="7091917" cy="369332"/>
          </a:xfrm>
          <a:prstGeom prst="rect">
            <a:avLst/>
          </a:prstGeom>
          <a:noFill/>
        </p:spPr>
        <p:txBody>
          <a:bodyPr wrap="square" rtlCol="0">
            <a:spAutoFit/>
          </a:bodyPr>
          <a:lstStyle/>
          <a:p>
            <a:pPr marL="0" algn="r" defTabSz="457200" rtl="1" eaLnBrk="1" latinLnBrk="0" hangingPunct="1"/>
            <a:r>
              <a:rPr lang="he-IL"/>
              <a:t>יחס בין מופנים למאובחנים עם עיכוב שפתי </a:t>
            </a:r>
            <a:endParaRPr lang="en-US" dirty="0"/>
          </a:p>
        </p:txBody>
      </p:sp>
      <p:sp>
        <p:nvSpPr>
          <p:cNvPr id="3" name="Footer Placeholder 2">
            <a:extLst>
              <a:ext uri="{FF2B5EF4-FFF2-40B4-BE49-F238E27FC236}">
                <a16:creationId xmlns:a16="http://schemas.microsoft.com/office/drawing/2014/main" id="{CA2637AE-69C6-BBFD-BAC7-22E3E9D6B637}"/>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0-11-Ratio1.png"/>
          <p:cNvPicPr>
            <a:picLocks noChangeAspect="1"/>
          </p:cNvPicPr>
          <p:nvPr/>
        </p:nvPicPr>
        <p:blipFill>
          <a:blip r:embed="rId2"/>
          <a:stretch>
            <a:fillRect/>
          </a:stretch>
        </p:blipFill>
        <p:spPr>
          <a:xfrm>
            <a:off x="457200" y="457200"/>
            <a:ext cx="5795846" cy="5029200"/>
          </a:xfrm>
          <a:prstGeom prst="rect">
            <a:avLst/>
          </a:prstGeom>
        </p:spPr>
      </p:pic>
      <p:sp>
        <p:nvSpPr>
          <p:cNvPr id="4" name="TextBox 3">
            <a:extLst>
              <a:ext uri="{FF2B5EF4-FFF2-40B4-BE49-F238E27FC236}">
                <a16:creationId xmlns:a16="http://schemas.microsoft.com/office/drawing/2014/main" id="{54346C81-973C-43D2-2EB5-7BC5262774FC}"/>
              </a:ext>
            </a:extLst>
          </p:cNvPr>
          <p:cNvSpPr txBox="1"/>
          <p:nvPr/>
        </p:nvSpPr>
        <p:spPr>
          <a:xfrm>
            <a:off x="1148316" y="5603358"/>
            <a:ext cx="7091917" cy="369332"/>
          </a:xfrm>
          <a:prstGeom prst="rect">
            <a:avLst/>
          </a:prstGeom>
          <a:noFill/>
        </p:spPr>
        <p:txBody>
          <a:bodyPr wrap="square" rtlCol="0">
            <a:spAutoFit/>
          </a:bodyPr>
          <a:lstStyle/>
          <a:p>
            <a:pPr marL="0" algn="r" defTabSz="457200" rtl="1" eaLnBrk="1" latinLnBrk="0" hangingPunct="1"/>
            <a:r>
              <a:rPr lang="he-IL"/>
              <a:t>יחס בין מטופלים למאובחנים עם עיכוב שפתי </a:t>
            </a:r>
            <a:endParaRPr lang="en-US" dirty="0"/>
          </a:p>
        </p:txBody>
      </p:sp>
      <p:sp>
        <p:nvSpPr>
          <p:cNvPr id="3" name="Footer Placeholder 2">
            <a:extLst>
              <a:ext uri="{FF2B5EF4-FFF2-40B4-BE49-F238E27FC236}">
                <a16:creationId xmlns:a16="http://schemas.microsoft.com/office/drawing/2014/main" id="{6121310F-2B3E-4D22-3D04-1AE6304A21CD}"/>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y flag with red and blue lines&#10;&#10;AI-generated content may be incorrect.">
            <a:extLst>
              <a:ext uri="{FF2B5EF4-FFF2-40B4-BE49-F238E27FC236}">
                <a16:creationId xmlns:a16="http://schemas.microsoft.com/office/drawing/2014/main" id="{1CED7054-10F3-AFD6-DCDB-FFF695A862F6}"/>
              </a:ext>
            </a:extLst>
          </p:cNvPr>
          <p:cNvPicPr>
            <a:picLocks noGrp="1" noRot="1" noChangeAspect="1" noMove="1" noResize="1" noEditPoints="1" noAdjustHandles="1" noChangeArrowheads="1" noChangeShapeType="1" noCrop="1"/>
          </p:cNvPicPr>
          <p:nvPr/>
        </p:nvPicPr>
        <p:blipFill>
          <a:blip r:embed="rId2"/>
          <a:stretch>
            <a:fillRect/>
          </a:stretch>
        </p:blipFill>
        <p:spPr>
          <a:xfrm>
            <a:off x="60663" y="2045109"/>
            <a:ext cx="7893632" cy="4736179"/>
          </a:xfrm>
          <a:prstGeom prst="rect">
            <a:avLst/>
          </a:prstGeom>
        </p:spPr>
      </p:pic>
      <p:sp>
        <p:nvSpPr>
          <p:cNvPr id="6" name="TextBox 5">
            <a:extLst>
              <a:ext uri="{FF2B5EF4-FFF2-40B4-BE49-F238E27FC236}">
                <a16:creationId xmlns:a16="http://schemas.microsoft.com/office/drawing/2014/main" id="{086CCE26-8663-2006-0720-2A16748D376D}"/>
              </a:ext>
            </a:extLst>
          </p:cNvPr>
          <p:cNvSpPr txBox="1"/>
          <p:nvPr/>
        </p:nvSpPr>
        <p:spPr>
          <a:xfrm>
            <a:off x="324462" y="3674534"/>
            <a:ext cx="1327355" cy="954107"/>
          </a:xfrm>
          <a:prstGeom prst="rect">
            <a:avLst/>
          </a:prstGeom>
          <a:noFill/>
        </p:spPr>
        <p:txBody>
          <a:bodyPr wrap="square" rtlCol="0">
            <a:spAutoFit/>
          </a:bodyPr>
          <a:lstStyle/>
          <a:p>
            <a:pPr marL="0" algn="r" defTabSz="457200" rtl="1" eaLnBrk="1" latinLnBrk="0" hangingPunct="1"/>
            <a:r>
              <a:rPr lang="he-IL" sz="1400" dirty="0"/>
              <a:t>כלל </a:t>
            </a:r>
            <a:r>
              <a:rPr lang="he-IL" sz="1400" dirty="0" err="1"/>
              <a:t>האוכלוסיה</a:t>
            </a:r>
            <a:r>
              <a:rPr lang="he-IL" sz="1400" dirty="0"/>
              <a:t> (מנורמל) </a:t>
            </a:r>
          </a:p>
          <a:p>
            <a:pPr marL="0" algn="r" defTabSz="457200" rtl="1" eaLnBrk="1" latinLnBrk="0" hangingPunct="1"/>
            <a:r>
              <a:rPr lang="he-IL" sz="1400" dirty="0"/>
              <a:t>בגילאי 0-8:</a:t>
            </a:r>
          </a:p>
          <a:p>
            <a:pPr marL="0" algn="r" defTabSz="457200" rtl="1" eaLnBrk="1" latinLnBrk="0" hangingPunct="1"/>
            <a:r>
              <a:rPr lang="he-IL" sz="1400" dirty="0"/>
              <a:t>1317</a:t>
            </a:r>
            <a:endParaRPr lang="en-US" sz="1400" dirty="0"/>
          </a:p>
        </p:txBody>
      </p:sp>
      <p:sp>
        <p:nvSpPr>
          <p:cNvPr id="7" name="TextBox 6">
            <a:extLst>
              <a:ext uri="{FF2B5EF4-FFF2-40B4-BE49-F238E27FC236}">
                <a16:creationId xmlns:a16="http://schemas.microsoft.com/office/drawing/2014/main" id="{EE7AA81C-D6EF-4E43-3199-46824CCC9D5C}"/>
              </a:ext>
            </a:extLst>
          </p:cNvPr>
          <p:cNvSpPr txBox="1"/>
          <p:nvPr/>
        </p:nvSpPr>
        <p:spPr>
          <a:xfrm>
            <a:off x="2231919" y="2835627"/>
            <a:ext cx="1327355" cy="738664"/>
          </a:xfrm>
          <a:prstGeom prst="rect">
            <a:avLst/>
          </a:prstGeom>
          <a:noFill/>
        </p:spPr>
        <p:txBody>
          <a:bodyPr wrap="square" rtlCol="0">
            <a:spAutoFit/>
          </a:bodyPr>
          <a:lstStyle/>
          <a:p>
            <a:pPr marL="0" algn="r" defTabSz="457200" rtl="1" eaLnBrk="1" latinLnBrk="0" hangingPunct="1"/>
            <a:r>
              <a:rPr lang="he-IL" sz="1400" dirty="0"/>
              <a:t>הופנו לאבחון בהפעלה ישירה: </a:t>
            </a:r>
          </a:p>
          <a:p>
            <a:pPr marL="0" algn="r" defTabSz="457200" rtl="1" eaLnBrk="1" latinLnBrk="0" hangingPunct="1"/>
            <a:r>
              <a:rPr lang="he-IL" sz="1400" dirty="0"/>
              <a:t>980</a:t>
            </a:r>
          </a:p>
        </p:txBody>
      </p:sp>
      <p:sp>
        <p:nvSpPr>
          <p:cNvPr id="8" name="TextBox 7">
            <a:extLst>
              <a:ext uri="{FF2B5EF4-FFF2-40B4-BE49-F238E27FC236}">
                <a16:creationId xmlns:a16="http://schemas.microsoft.com/office/drawing/2014/main" id="{20553E76-BF6A-0A0B-4063-FA2D8C10998B}"/>
              </a:ext>
            </a:extLst>
          </p:cNvPr>
          <p:cNvSpPr txBox="1"/>
          <p:nvPr/>
        </p:nvSpPr>
        <p:spPr>
          <a:xfrm>
            <a:off x="2231918" y="5513284"/>
            <a:ext cx="1327355" cy="738664"/>
          </a:xfrm>
          <a:prstGeom prst="rect">
            <a:avLst/>
          </a:prstGeom>
          <a:noFill/>
        </p:spPr>
        <p:txBody>
          <a:bodyPr wrap="square" rtlCol="0">
            <a:spAutoFit/>
          </a:bodyPr>
          <a:lstStyle/>
          <a:p>
            <a:pPr marL="0" algn="r" defTabSz="457200" rtl="1" eaLnBrk="1" latinLnBrk="0" hangingPunct="1"/>
            <a:r>
              <a:rPr lang="he-IL" sz="1400" dirty="0"/>
              <a:t>הופנו לאבחון קבלן:</a:t>
            </a:r>
          </a:p>
          <a:p>
            <a:pPr marL="0" algn="r" defTabSz="457200" rtl="1" eaLnBrk="1" latinLnBrk="0" hangingPunct="1"/>
            <a:r>
              <a:rPr lang="he-IL" sz="1400" dirty="0"/>
              <a:t>337</a:t>
            </a:r>
          </a:p>
        </p:txBody>
      </p:sp>
      <p:sp>
        <p:nvSpPr>
          <p:cNvPr id="9" name="TextBox 8">
            <a:extLst>
              <a:ext uri="{FF2B5EF4-FFF2-40B4-BE49-F238E27FC236}">
                <a16:creationId xmlns:a16="http://schemas.microsoft.com/office/drawing/2014/main" id="{4EBDAFC5-5E30-54B3-1CC5-894BBC8310E6}"/>
              </a:ext>
            </a:extLst>
          </p:cNvPr>
          <p:cNvSpPr txBox="1"/>
          <p:nvPr/>
        </p:nvSpPr>
        <p:spPr>
          <a:xfrm>
            <a:off x="4100049" y="5639455"/>
            <a:ext cx="894735" cy="523220"/>
          </a:xfrm>
          <a:prstGeom prst="rect">
            <a:avLst/>
          </a:prstGeom>
          <a:noFill/>
        </p:spPr>
        <p:txBody>
          <a:bodyPr wrap="square" rtlCol="0">
            <a:spAutoFit/>
          </a:bodyPr>
          <a:lstStyle/>
          <a:p>
            <a:pPr marL="0" algn="r" defTabSz="457200" rtl="1" eaLnBrk="1" latinLnBrk="0" hangingPunct="1"/>
            <a:r>
              <a:rPr lang="he-IL" sz="1400" dirty="0"/>
              <a:t>אובחנו:</a:t>
            </a:r>
          </a:p>
          <a:p>
            <a:pPr marL="0" algn="r" defTabSz="457200" rtl="1" eaLnBrk="1" latinLnBrk="0" hangingPunct="1"/>
            <a:r>
              <a:rPr lang="he-IL" sz="1400" dirty="0"/>
              <a:t>267</a:t>
            </a:r>
          </a:p>
        </p:txBody>
      </p:sp>
      <p:sp>
        <p:nvSpPr>
          <p:cNvPr id="10" name="TextBox 9">
            <a:extLst>
              <a:ext uri="{FF2B5EF4-FFF2-40B4-BE49-F238E27FC236}">
                <a16:creationId xmlns:a16="http://schemas.microsoft.com/office/drawing/2014/main" id="{E9A8A2CD-02DF-4B9B-2900-81D552A7B065}"/>
              </a:ext>
            </a:extLst>
          </p:cNvPr>
          <p:cNvSpPr txBox="1"/>
          <p:nvPr/>
        </p:nvSpPr>
        <p:spPr>
          <a:xfrm>
            <a:off x="4007478" y="2974126"/>
            <a:ext cx="1327355" cy="738664"/>
          </a:xfrm>
          <a:prstGeom prst="rect">
            <a:avLst/>
          </a:prstGeom>
          <a:noFill/>
        </p:spPr>
        <p:txBody>
          <a:bodyPr wrap="square" rtlCol="0">
            <a:spAutoFit/>
          </a:bodyPr>
          <a:lstStyle/>
          <a:p>
            <a:pPr marL="0" algn="r" defTabSz="457200" rtl="1" eaLnBrk="1" latinLnBrk="0" hangingPunct="1"/>
            <a:r>
              <a:rPr lang="he-IL" sz="1400" dirty="0"/>
              <a:t>אובחנו עם עיכוב שפתי:</a:t>
            </a:r>
          </a:p>
          <a:p>
            <a:pPr marL="0" algn="r" defTabSz="457200" rtl="1" eaLnBrk="1" latinLnBrk="0" hangingPunct="1"/>
            <a:r>
              <a:rPr lang="he-IL" sz="1400" dirty="0"/>
              <a:t>960</a:t>
            </a:r>
          </a:p>
        </p:txBody>
      </p:sp>
      <p:sp>
        <p:nvSpPr>
          <p:cNvPr id="11" name="TextBox 10">
            <a:extLst>
              <a:ext uri="{FF2B5EF4-FFF2-40B4-BE49-F238E27FC236}">
                <a16:creationId xmlns:a16="http://schemas.microsoft.com/office/drawing/2014/main" id="{444F864E-CDA8-7102-7447-A2527B61F94E}"/>
              </a:ext>
            </a:extLst>
          </p:cNvPr>
          <p:cNvSpPr txBox="1"/>
          <p:nvPr/>
        </p:nvSpPr>
        <p:spPr>
          <a:xfrm>
            <a:off x="5598632" y="3708139"/>
            <a:ext cx="855404" cy="523220"/>
          </a:xfrm>
          <a:prstGeom prst="rect">
            <a:avLst/>
          </a:prstGeom>
          <a:noFill/>
        </p:spPr>
        <p:txBody>
          <a:bodyPr wrap="square" rtlCol="0">
            <a:spAutoFit/>
          </a:bodyPr>
          <a:lstStyle/>
          <a:p>
            <a:pPr marL="0" algn="r" defTabSz="457200" rtl="1" eaLnBrk="1" latinLnBrk="0" hangingPunct="1"/>
            <a:r>
              <a:rPr lang="he-IL" sz="1400" dirty="0"/>
              <a:t>טופלו:</a:t>
            </a:r>
          </a:p>
          <a:p>
            <a:pPr marL="0" algn="r" defTabSz="457200" rtl="1" eaLnBrk="1" latinLnBrk="0" hangingPunct="1"/>
            <a:r>
              <a:rPr lang="he-IL" sz="1400" dirty="0"/>
              <a:t>933</a:t>
            </a:r>
          </a:p>
        </p:txBody>
      </p:sp>
      <p:sp>
        <p:nvSpPr>
          <p:cNvPr id="12" name="TextBox 11">
            <a:extLst>
              <a:ext uri="{FF2B5EF4-FFF2-40B4-BE49-F238E27FC236}">
                <a16:creationId xmlns:a16="http://schemas.microsoft.com/office/drawing/2014/main" id="{4E4B5117-3751-FFDC-710C-06257D9CB6FC}"/>
              </a:ext>
            </a:extLst>
          </p:cNvPr>
          <p:cNvSpPr txBox="1"/>
          <p:nvPr/>
        </p:nvSpPr>
        <p:spPr>
          <a:xfrm>
            <a:off x="5535560" y="5821061"/>
            <a:ext cx="855404" cy="523220"/>
          </a:xfrm>
          <a:prstGeom prst="rect">
            <a:avLst/>
          </a:prstGeom>
          <a:noFill/>
        </p:spPr>
        <p:txBody>
          <a:bodyPr wrap="square" rtlCol="0">
            <a:spAutoFit/>
          </a:bodyPr>
          <a:lstStyle/>
          <a:p>
            <a:pPr marL="0" algn="r" defTabSz="457200" rtl="1" eaLnBrk="1" latinLnBrk="0" hangingPunct="1"/>
            <a:r>
              <a:rPr lang="he-IL" sz="1400" dirty="0"/>
              <a:t>טופלו:</a:t>
            </a:r>
          </a:p>
          <a:p>
            <a:pPr marL="0" algn="r" defTabSz="457200" rtl="1" eaLnBrk="1" latinLnBrk="0" hangingPunct="1"/>
            <a:r>
              <a:rPr lang="he-IL" sz="1400" dirty="0"/>
              <a:t>111</a:t>
            </a:r>
          </a:p>
        </p:txBody>
      </p:sp>
      <p:sp>
        <p:nvSpPr>
          <p:cNvPr id="13" name="TextBox 12">
            <a:extLst>
              <a:ext uri="{FF2B5EF4-FFF2-40B4-BE49-F238E27FC236}">
                <a16:creationId xmlns:a16="http://schemas.microsoft.com/office/drawing/2014/main" id="{BC76A3F1-A453-881C-9E90-8CDB8122B01B}"/>
              </a:ext>
            </a:extLst>
          </p:cNvPr>
          <p:cNvSpPr txBox="1"/>
          <p:nvPr/>
        </p:nvSpPr>
        <p:spPr>
          <a:xfrm>
            <a:off x="7499554" y="4097510"/>
            <a:ext cx="1519084" cy="307777"/>
          </a:xfrm>
          <a:prstGeom prst="rect">
            <a:avLst/>
          </a:prstGeom>
          <a:noFill/>
        </p:spPr>
        <p:txBody>
          <a:bodyPr wrap="square" rtlCol="0">
            <a:spAutoFit/>
          </a:bodyPr>
          <a:lstStyle/>
          <a:p>
            <a:pPr marL="0" algn="r" defTabSz="457200" rtl="1" eaLnBrk="1" latinLnBrk="0" hangingPunct="1"/>
            <a:r>
              <a:rPr lang="he-IL" sz="1400" dirty="0"/>
              <a:t>טופלו בקופה: 749</a:t>
            </a:r>
          </a:p>
        </p:txBody>
      </p:sp>
      <p:sp>
        <p:nvSpPr>
          <p:cNvPr id="14" name="TextBox 13">
            <a:extLst>
              <a:ext uri="{FF2B5EF4-FFF2-40B4-BE49-F238E27FC236}">
                <a16:creationId xmlns:a16="http://schemas.microsoft.com/office/drawing/2014/main" id="{0F4B4A02-6813-20E0-219A-FE59880B790E}"/>
              </a:ext>
            </a:extLst>
          </p:cNvPr>
          <p:cNvSpPr txBox="1"/>
          <p:nvPr/>
        </p:nvSpPr>
        <p:spPr>
          <a:xfrm>
            <a:off x="7349617" y="5513284"/>
            <a:ext cx="1101209" cy="307777"/>
          </a:xfrm>
          <a:prstGeom prst="rect">
            <a:avLst/>
          </a:prstGeom>
          <a:noFill/>
        </p:spPr>
        <p:txBody>
          <a:bodyPr wrap="square" rtlCol="0">
            <a:spAutoFit/>
          </a:bodyPr>
          <a:lstStyle/>
          <a:p>
            <a:pPr marL="0" algn="r" defTabSz="457200" rtl="1" eaLnBrk="1" latinLnBrk="0" hangingPunct="1"/>
            <a:r>
              <a:rPr lang="he-IL" sz="1400" dirty="0"/>
              <a:t>ספק: 184</a:t>
            </a:r>
          </a:p>
        </p:txBody>
      </p:sp>
      <p:sp>
        <p:nvSpPr>
          <p:cNvPr id="15" name="TextBox 14">
            <a:extLst>
              <a:ext uri="{FF2B5EF4-FFF2-40B4-BE49-F238E27FC236}">
                <a16:creationId xmlns:a16="http://schemas.microsoft.com/office/drawing/2014/main" id="{3ECA7C8C-57FD-460D-566F-B66FE44E5D31}"/>
              </a:ext>
            </a:extLst>
          </p:cNvPr>
          <p:cNvSpPr txBox="1"/>
          <p:nvPr/>
        </p:nvSpPr>
        <p:spPr>
          <a:xfrm>
            <a:off x="7499554" y="6010415"/>
            <a:ext cx="1519084" cy="307777"/>
          </a:xfrm>
          <a:prstGeom prst="rect">
            <a:avLst/>
          </a:prstGeom>
          <a:noFill/>
        </p:spPr>
        <p:txBody>
          <a:bodyPr wrap="square" rtlCol="0">
            <a:spAutoFit/>
          </a:bodyPr>
          <a:lstStyle/>
          <a:p>
            <a:pPr marL="0" algn="r" defTabSz="457200" rtl="1" eaLnBrk="1" latinLnBrk="0" hangingPunct="1"/>
            <a:r>
              <a:rPr lang="he-IL" sz="1400" dirty="0"/>
              <a:t>טופלו בקופה: 106</a:t>
            </a:r>
          </a:p>
        </p:txBody>
      </p:sp>
      <p:sp>
        <p:nvSpPr>
          <p:cNvPr id="16" name="TextBox 15">
            <a:extLst>
              <a:ext uri="{FF2B5EF4-FFF2-40B4-BE49-F238E27FC236}">
                <a16:creationId xmlns:a16="http://schemas.microsoft.com/office/drawing/2014/main" id="{DBBA8CC4-D478-2DC9-FF53-F56F61E93F56}"/>
              </a:ext>
            </a:extLst>
          </p:cNvPr>
          <p:cNvSpPr txBox="1"/>
          <p:nvPr/>
        </p:nvSpPr>
        <p:spPr>
          <a:xfrm>
            <a:off x="6848168" y="6286258"/>
            <a:ext cx="1519084" cy="307777"/>
          </a:xfrm>
          <a:prstGeom prst="rect">
            <a:avLst/>
          </a:prstGeom>
          <a:noFill/>
        </p:spPr>
        <p:txBody>
          <a:bodyPr wrap="square" rtlCol="0">
            <a:spAutoFit/>
          </a:bodyPr>
          <a:lstStyle/>
          <a:p>
            <a:pPr marL="0" algn="r" defTabSz="457200" rtl="1" eaLnBrk="1" latinLnBrk="0" hangingPunct="1"/>
            <a:r>
              <a:rPr lang="he-IL" sz="1400" dirty="0"/>
              <a:t>ספק: 5</a:t>
            </a:r>
          </a:p>
        </p:txBody>
      </p:sp>
      <p:sp>
        <p:nvSpPr>
          <p:cNvPr id="17" name="TextBox 16">
            <a:extLst>
              <a:ext uri="{FF2B5EF4-FFF2-40B4-BE49-F238E27FC236}">
                <a16:creationId xmlns:a16="http://schemas.microsoft.com/office/drawing/2014/main" id="{3FDEC949-51AE-EDC8-0840-570AA825209D}"/>
              </a:ext>
            </a:extLst>
          </p:cNvPr>
          <p:cNvSpPr txBox="1"/>
          <p:nvPr/>
        </p:nvSpPr>
        <p:spPr>
          <a:xfrm>
            <a:off x="607973" y="387548"/>
            <a:ext cx="8126364" cy="523220"/>
          </a:xfrm>
          <a:prstGeom prst="rect">
            <a:avLst/>
          </a:prstGeom>
          <a:noFill/>
        </p:spPr>
        <p:txBody>
          <a:bodyPr wrap="square" rtlCol="0">
            <a:spAutoFit/>
          </a:bodyPr>
          <a:lstStyle/>
          <a:p>
            <a:pPr marL="0" algn="r" defTabSz="457200" rtl="1" eaLnBrk="1" latinLnBrk="0" hangingPunct="1"/>
            <a:r>
              <a:rPr lang="he-IL" sz="1400" dirty="0"/>
              <a:t>מהפניה לטיפול בעיכוב שפתי (גילאי 0-8) מנורמל 10000 איש בשנת 2022 (הנתונים דומים בין השנים, ראו שקפים קודמים)</a:t>
            </a:r>
          </a:p>
        </p:txBody>
      </p:sp>
      <p:sp>
        <p:nvSpPr>
          <p:cNvPr id="18" name="TextBox 17">
            <a:extLst>
              <a:ext uri="{FF2B5EF4-FFF2-40B4-BE49-F238E27FC236}">
                <a16:creationId xmlns:a16="http://schemas.microsoft.com/office/drawing/2014/main" id="{1782DE04-A209-FDF2-A664-714F28C73F7C}"/>
              </a:ext>
            </a:extLst>
          </p:cNvPr>
          <p:cNvSpPr txBox="1"/>
          <p:nvPr/>
        </p:nvSpPr>
        <p:spPr>
          <a:xfrm>
            <a:off x="607973" y="826757"/>
            <a:ext cx="8126364" cy="954107"/>
          </a:xfrm>
          <a:prstGeom prst="rect">
            <a:avLst/>
          </a:prstGeom>
          <a:noFill/>
        </p:spPr>
        <p:txBody>
          <a:bodyPr wrap="square" rtlCol="0">
            <a:spAutoFit/>
          </a:bodyPr>
          <a:lstStyle/>
          <a:p>
            <a:pPr marL="0" algn="r" defTabSz="457200" rtl="1" eaLnBrk="1" latinLnBrk="0" hangingPunct="1"/>
            <a:r>
              <a:rPr lang="he-IL" sz="1400" dirty="0"/>
              <a:t>כמעט כל המבוטחים בהפעלה ישירה שהופנו לאבחון אובחנו כבעלי עיכוב שפתי וטופלו (80% בתוך הקופה, ו-20% ע״י ספק פרטי). </a:t>
            </a:r>
          </a:p>
          <a:p>
            <a:pPr marL="0" algn="r" defTabSz="457200" rtl="1" eaLnBrk="1" latinLnBrk="0" hangingPunct="1"/>
            <a:r>
              <a:rPr lang="he-IL" sz="1400" dirty="0"/>
              <a:t> 79% מהמבוטחים במרפאות קבלניות שהופנו לאבחון אובחנו כבעלי עיכוב שפתי. מתוכם 41.5% טופלו (95.5% בתוך הקופה, 4.5% ע״י ספק פרטי</a:t>
            </a:r>
            <a:r>
              <a:rPr lang="he-IL" sz="1400"/>
              <a:t>). </a:t>
            </a:r>
            <a:endParaRPr lang="he-IL" sz="1400" dirty="0"/>
          </a:p>
        </p:txBody>
      </p:sp>
      <p:sp>
        <p:nvSpPr>
          <p:cNvPr id="2" name="Footer Placeholder 1">
            <a:extLst>
              <a:ext uri="{FF2B5EF4-FFF2-40B4-BE49-F238E27FC236}">
                <a16:creationId xmlns:a16="http://schemas.microsoft.com/office/drawing/2014/main" id="{53FCE65D-0781-4747-5BB1-59DED46C56FB}"/>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1568379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oneDensity_Referred.png"/>
          <p:cNvPicPr>
            <a:picLocks noChangeAspect="1"/>
          </p:cNvPicPr>
          <p:nvPr/>
        </p:nvPicPr>
        <p:blipFill>
          <a:blip r:embed="rId2"/>
          <a:stretch>
            <a:fillRect/>
          </a:stretch>
        </p:blipFill>
        <p:spPr>
          <a:xfrm>
            <a:off x="457200" y="457200"/>
            <a:ext cx="6455391" cy="5029200"/>
          </a:xfrm>
          <a:prstGeom prst="rect">
            <a:avLst/>
          </a:prstGeom>
        </p:spPr>
      </p:pic>
      <p:sp>
        <p:nvSpPr>
          <p:cNvPr id="4" name="TextBox 3">
            <a:extLst>
              <a:ext uri="{FF2B5EF4-FFF2-40B4-BE49-F238E27FC236}">
                <a16:creationId xmlns:a16="http://schemas.microsoft.com/office/drawing/2014/main" id="{3C5E82F5-C2D7-813E-E795-D329914920EC}"/>
              </a:ext>
            </a:extLst>
          </p:cNvPr>
          <p:cNvSpPr txBox="1"/>
          <p:nvPr/>
        </p:nvSpPr>
        <p:spPr>
          <a:xfrm>
            <a:off x="889000" y="5603358"/>
            <a:ext cx="7351233" cy="923330"/>
          </a:xfrm>
          <a:prstGeom prst="rect">
            <a:avLst/>
          </a:prstGeom>
          <a:noFill/>
        </p:spPr>
        <p:txBody>
          <a:bodyPr wrap="square" rtlCol="0">
            <a:spAutoFit/>
          </a:bodyPr>
          <a:lstStyle/>
          <a:p>
            <a:pPr marL="0" algn="r" defTabSz="457200" rtl="1" eaLnBrk="1" latinLnBrk="0" hangingPunct="1"/>
            <a:r>
              <a:rPr lang="he-IL" dirty="0"/>
              <a:t>פי 2.1 ביצוע סריקות צפיפות עצם (נשים) דרך הפעלה ישירה מול קבלן</a:t>
            </a:r>
          </a:p>
          <a:p>
            <a:pPr marL="0" algn="r" defTabSz="457200" rtl="1" eaLnBrk="1" latinLnBrk="0" hangingPunct="1"/>
            <a:r>
              <a:rPr lang="he-IL" dirty="0"/>
              <a:t>4.8%-6.8% מהמבוטחות במרפאות קבלן מבצעות סריקות צפיפות עצם לעומת 9.7%-12.7% מהמבוטחות במרפאות בהפעלה ישירה.   </a:t>
            </a:r>
            <a:endParaRPr lang="en-US" dirty="0"/>
          </a:p>
        </p:txBody>
      </p:sp>
      <p:sp>
        <p:nvSpPr>
          <p:cNvPr id="3" name="Footer Placeholder 2">
            <a:extLst>
              <a:ext uri="{FF2B5EF4-FFF2-40B4-BE49-F238E27FC236}">
                <a16:creationId xmlns:a16="http://schemas.microsoft.com/office/drawing/2014/main" id="{E8FF2262-3428-7128-625B-BBD848840144}"/>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8-21-Tested_Female.png"/>
          <p:cNvPicPr>
            <a:picLocks noChangeAspect="1"/>
          </p:cNvPicPr>
          <p:nvPr/>
        </p:nvPicPr>
        <p:blipFill>
          <a:blip r:embed="rId2"/>
          <a:stretch>
            <a:fillRect/>
          </a:stretch>
        </p:blipFill>
        <p:spPr>
          <a:xfrm>
            <a:off x="457200" y="457200"/>
            <a:ext cx="3567748" cy="2777218"/>
          </a:xfrm>
          <a:prstGeom prst="rect">
            <a:avLst/>
          </a:prstGeom>
        </p:spPr>
      </p:pic>
      <p:pic>
        <p:nvPicPr>
          <p:cNvPr id="5" name="Picture 4" descr="A graph with numbers and red dots&#10;&#10;AI-generated content may be incorrect.">
            <a:extLst>
              <a:ext uri="{FF2B5EF4-FFF2-40B4-BE49-F238E27FC236}">
                <a16:creationId xmlns:a16="http://schemas.microsoft.com/office/drawing/2014/main" id="{3A0C1B22-26D3-F48D-9DC5-50AD5239F670}"/>
              </a:ext>
            </a:extLst>
          </p:cNvPr>
          <p:cNvPicPr>
            <a:picLocks noChangeAspect="1"/>
          </p:cNvPicPr>
          <p:nvPr/>
        </p:nvPicPr>
        <p:blipFill>
          <a:blip r:embed="rId3"/>
          <a:stretch>
            <a:fillRect/>
          </a:stretch>
        </p:blipFill>
        <p:spPr>
          <a:xfrm>
            <a:off x="4923383" y="457200"/>
            <a:ext cx="3567748" cy="2776746"/>
          </a:xfrm>
          <a:prstGeom prst="rect">
            <a:avLst/>
          </a:prstGeom>
        </p:spPr>
      </p:pic>
      <p:sp>
        <p:nvSpPr>
          <p:cNvPr id="6" name="TextBox 5">
            <a:extLst>
              <a:ext uri="{FF2B5EF4-FFF2-40B4-BE49-F238E27FC236}">
                <a16:creationId xmlns:a16="http://schemas.microsoft.com/office/drawing/2014/main" id="{C14DCFED-6295-7068-65F4-7F3EFBFD1180}"/>
              </a:ext>
            </a:extLst>
          </p:cNvPr>
          <p:cNvSpPr txBox="1"/>
          <p:nvPr/>
        </p:nvSpPr>
        <p:spPr>
          <a:xfrm>
            <a:off x="1377424" y="4265625"/>
            <a:ext cx="7091917" cy="1754326"/>
          </a:xfrm>
          <a:prstGeom prst="rect">
            <a:avLst/>
          </a:prstGeom>
          <a:noFill/>
        </p:spPr>
        <p:txBody>
          <a:bodyPr wrap="square" rtlCol="0">
            <a:spAutoFit/>
          </a:bodyPr>
          <a:lstStyle/>
          <a:p>
            <a:pPr marL="0" algn="r" defTabSz="457200" rtl="1" eaLnBrk="1" latinLnBrk="0" hangingPunct="1"/>
            <a:r>
              <a:rPr lang="he-IL" dirty="0"/>
              <a:t>פי 2 ביצוע בדיקות דם סמוי בצואה דרך קבלן מול הפעלה ישירה</a:t>
            </a:r>
          </a:p>
          <a:p>
            <a:pPr marL="0" algn="r" defTabSz="457200" rtl="1" eaLnBrk="1" latinLnBrk="0" hangingPunct="1"/>
            <a:r>
              <a:rPr lang="he-IL" dirty="0"/>
              <a:t>אצל נשים: בין 48% ל 57% מהמבוטחות במרפאות קבלן מבצעות בדיקות דם סמוי לעומת 22.9%-31% מהמבוטחות במרפאות בהפעלה ישירה. </a:t>
            </a:r>
          </a:p>
          <a:p>
            <a:pPr marL="0" algn="r" defTabSz="457200" rtl="1" eaLnBrk="1" latinLnBrk="0" hangingPunct="1"/>
            <a:r>
              <a:rPr lang="he-IL" dirty="0"/>
              <a:t>אצל גברים:</a:t>
            </a:r>
            <a:r>
              <a:rPr lang="en-US" dirty="0"/>
              <a:t> </a:t>
            </a:r>
            <a:r>
              <a:rPr lang="he-IL" dirty="0"/>
              <a:t>בין 40.7% ל- 49.8% מהמבוטחים במרפאות קבלן מבצעים בדיקות דם סמוי לעומת 20.7%-27.3% מהמבוטחים בהפעלה ישירה</a:t>
            </a:r>
          </a:p>
          <a:p>
            <a:pPr marL="0" algn="r" defTabSz="457200" rtl="1" eaLnBrk="1" latinLnBrk="0" hangingPunct="1"/>
            <a:endParaRPr lang="en-US" dirty="0"/>
          </a:p>
        </p:txBody>
      </p:sp>
      <p:sp>
        <p:nvSpPr>
          <p:cNvPr id="3" name="Footer Placeholder 2">
            <a:extLst>
              <a:ext uri="{FF2B5EF4-FFF2-40B4-BE49-F238E27FC236}">
                <a16:creationId xmlns:a16="http://schemas.microsoft.com/office/drawing/2014/main" id="{9DC969F0-30F8-B611-F833-B714348E3A0D}"/>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29786-4A98-08B7-2CC6-9ED2E6D1338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1A55FA2-3DA3-5EF4-D954-776D95E6B369}"/>
              </a:ext>
            </a:extLst>
          </p:cNvPr>
          <p:cNvSpPr txBox="1"/>
          <p:nvPr/>
        </p:nvSpPr>
        <p:spPr>
          <a:xfrm>
            <a:off x="1302268" y="4274092"/>
            <a:ext cx="7091917" cy="1754326"/>
          </a:xfrm>
          <a:prstGeom prst="rect">
            <a:avLst/>
          </a:prstGeom>
          <a:noFill/>
        </p:spPr>
        <p:txBody>
          <a:bodyPr wrap="square" rtlCol="0">
            <a:spAutoFit/>
          </a:bodyPr>
          <a:lstStyle/>
          <a:p>
            <a:pPr marL="0" algn="r" defTabSz="457200" rtl="1" eaLnBrk="1" latinLnBrk="0" hangingPunct="1"/>
            <a:r>
              <a:rPr lang="he-IL" dirty="0"/>
              <a:t>פי </a:t>
            </a:r>
            <a:r>
              <a:rPr lang="en-US" dirty="0"/>
              <a:t> </a:t>
            </a:r>
            <a:r>
              <a:rPr lang="he-IL" dirty="0"/>
              <a:t>2 ביצוע בדיקות קולונוסקופיה לאחר תשובה חיובית בדם סמוי דרך קבלן מול הפעלה ישירה</a:t>
            </a:r>
          </a:p>
          <a:p>
            <a:pPr marL="0" algn="r" defTabSz="457200" rtl="1" eaLnBrk="1" latinLnBrk="0" hangingPunct="1"/>
            <a:r>
              <a:rPr lang="he-IL" dirty="0"/>
              <a:t>אצל נשים: בין 3.2%-4.5% מהמבוטחות במרפאות קבלן מבצעות קולונוסקופיה לעומת 1.6%-2.4% מהמבוטחות במרפאות בהפעלה ישירה</a:t>
            </a:r>
          </a:p>
          <a:p>
            <a:pPr marL="0" algn="r" defTabSz="457200" rtl="1" eaLnBrk="1" latinLnBrk="0" hangingPunct="1"/>
            <a:r>
              <a:rPr lang="he-IL" dirty="0"/>
              <a:t>אצל גברים: בין 3.2% ל-6%</a:t>
            </a:r>
            <a:r>
              <a:rPr lang="en-US" dirty="0"/>
              <a:t> </a:t>
            </a:r>
            <a:r>
              <a:rPr lang="he-IL" dirty="0"/>
              <a:t>מהמבוטחים במרפאות קבלן מבצעים קולונוסקופיה לעומת 2%-2ץ8%  מהמבוטחים במרפאות בהפעלה ישירה</a:t>
            </a:r>
            <a:endParaRPr lang="en-US" dirty="0"/>
          </a:p>
        </p:txBody>
      </p:sp>
      <p:pic>
        <p:nvPicPr>
          <p:cNvPr id="14" name="Picture 13" descr="A graph with numbers and red dots&#10;&#10;AI-generated content may be incorrect.">
            <a:extLst>
              <a:ext uri="{FF2B5EF4-FFF2-40B4-BE49-F238E27FC236}">
                <a16:creationId xmlns:a16="http://schemas.microsoft.com/office/drawing/2014/main" id="{6364725D-CB30-F700-A88A-87277E4724E2}"/>
              </a:ext>
            </a:extLst>
          </p:cNvPr>
          <p:cNvPicPr>
            <a:picLocks noChangeAspect="1"/>
          </p:cNvPicPr>
          <p:nvPr/>
        </p:nvPicPr>
        <p:blipFill>
          <a:blip r:embed="rId2"/>
          <a:stretch>
            <a:fillRect/>
          </a:stretch>
        </p:blipFill>
        <p:spPr>
          <a:xfrm>
            <a:off x="408467" y="566036"/>
            <a:ext cx="3887307" cy="2990918"/>
          </a:xfrm>
          <a:prstGeom prst="rect">
            <a:avLst/>
          </a:prstGeom>
        </p:spPr>
      </p:pic>
      <p:pic>
        <p:nvPicPr>
          <p:cNvPr id="16" name="Picture 15" descr="A graph with numbers and red dots&#10;&#10;AI-generated content may be incorrect.">
            <a:extLst>
              <a:ext uri="{FF2B5EF4-FFF2-40B4-BE49-F238E27FC236}">
                <a16:creationId xmlns:a16="http://schemas.microsoft.com/office/drawing/2014/main" id="{BDD77C41-AA5B-1BA1-7436-C49A82AD0018}"/>
              </a:ext>
            </a:extLst>
          </p:cNvPr>
          <p:cNvPicPr>
            <a:picLocks noChangeAspect="1"/>
          </p:cNvPicPr>
          <p:nvPr/>
        </p:nvPicPr>
        <p:blipFill>
          <a:blip r:embed="rId3"/>
          <a:stretch>
            <a:fillRect/>
          </a:stretch>
        </p:blipFill>
        <p:spPr>
          <a:xfrm>
            <a:off x="4848227" y="566036"/>
            <a:ext cx="3962840" cy="3049034"/>
          </a:xfrm>
          <a:prstGeom prst="rect">
            <a:avLst/>
          </a:prstGeom>
        </p:spPr>
      </p:pic>
      <p:sp>
        <p:nvSpPr>
          <p:cNvPr id="2" name="Footer Placeholder 1">
            <a:extLst>
              <a:ext uri="{FF2B5EF4-FFF2-40B4-BE49-F238E27FC236}">
                <a16:creationId xmlns:a16="http://schemas.microsoft.com/office/drawing/2014/main" id="{FA9D6E9C-30DE-BCA2-6330-BE8F69CF8DA6}"/>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3214828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Q18-21-Female_CScopy.png">
            <a:extLst>
              <a:ext uri="{FF2B5EF4-FFF2-40B4-BE49-F238E27FC236}">
                <a16:creationId xmlns:a16="http://schemas.microsoft.com/office/drawing/2014/main" id="{A8C55D63-824D-96BE-053D-36BB52CF91A2}"/>
              </a:ext>
            </a:extLst>
          </p:cNvPr>
          <p:cNvPicPr>
            <a:picLocks noChangeAspect="1"/>
          </p:cNvPicPr>
          <p:nvPr/>
        </p:nvPicPr>
        <p:blipFill>
          <a:blip r:embed="rId2"/>
          <a:stretch>
            <a:fillRect/>
          </a:stretch>
        </p:blipFill>
        <p:spPr>
          <a:xfrm>
            <a:off x="205140" y="579474"/>
            <a:ext cx="4106231" cy="3056861"/>
          </a:xfrm>
          <a:prstGeom prst="rect">
            <a:avLst/>
          </a:prstGeom>
        </p:spPr>
      </p:pic>
      <p:pic>
        <p:nvPicPr>
          <p:cNvPr id="5" name="Picture 4" descr="Q18-21-Male_CScopy.png">
            <a:extLst>
              <a:ext uri="{FF2B5EF4-FFF2-40B4-BE49-F238E27FC236}">
                <a16:creationId xmlns:a16="http://schemas.microsoft.com/office/drawing/2014/main" id="{1600845A-7AE5-0CA6-5737-345FF5BECA16}"/>
              </a:ext>
            </a:extLst>
          </p:cNvPr>
          <p:cNvPicPr>
            <a:picLocks noChangeAspect="1"/>
          </p:cNvPicPr>
          <p:nvPr/>
        </p:nvPicPr>
        <p:blipFill>
          <a:blip r:embed="rId3"/>
          <a:stretch>
            <a:fillRect/>
          </a:stretch>
        </p:blipFill>
        <p:spPr>
          <a:xfrm>
            <a:off x="4832629" y="579474"/>
            <a:ext cx="4106231" cy="3056861"/>
          </a:xfrm>
          <a:prstGeom prst="rect">
            <a:avLst/>
          </a:prstGeom>
        </p:spPr>
      </p:pic>
      <p:sp>
        <p:nvSpPr>
          <p:cNvPr id="6" name="TextBox 5">
            <a:extLst>
              <a:ext uri="{FF2B5EF4-FFF2-40B4-BE49-F238E27FC236}">
                <a16:creationId xmlns:a16="http://schemas.microsoft.com/office/drawing/2014/main" id="{46EF19A7-9077-C9CA-A2FE-20343B25D112}"/>
              </a:ext>
            </a:extLst>
          </p:cNvPr>
          <p:cNvSpPr txBox="1"/>
          <p:nvPr/>
        </p:nvSpPr>
        <p:spPr>
          <a:xfrm>
            <a:off x="1148316" y="5603358"/>
            <a:ext cx="7091917" cy="646331"/>
          </a:xfrm>
          <a:prstGeom prst="rect">
            <a:avLst/>
          </a:prstGeom>
          <a:noFill/>
        </p:spPr>
        <p:txBody>
          <a:bodyPr wrap="square" rtlCol="0">
            <a:spAutoFit/>
          </a:bodyPr>
          <a:lstStyle/>
          <a:p>
            <a:pPr marL="0" algn="r" defTabSz="457200" rtl="1" eaLnBrk="1" latinLnBrk="0" hangingPunct="1"/>
            <a:r>
              <a:rPr lang="he-IL" dirty="0"/>
              <a:t>ללא הבדל משמעותי ביחס בין ביצוע בדיקת </a:t>
            </a:r>
            <a:r>
              <a:rPr lang="he-IL" dirty="0" err="1"/>
              <a:t>קולונסקופיה</a:t>
            </a:r>
            <a:r>
              <a:rPr lang="he-IL" dirty="0"/>
              <a:t> לביצוע בדיקת דם סמוי</a:t>
            </a:r>
          </a:p>
          <a:p>
            <a:pPr marL="0" algn="r" defTabSz="457200" rtl="1" eaLnBrk="1" latinLnBrk="0" hangingPunct="1"/>
            <a:r>
              <a:rPr lang="he-IL" dirty="0"/>
              <a:t>המשמעות – מתבצעות גם יותר בדיקות </a:t>
            </a:r>
            <a:r>
              <a:rPr lang="he-IL" dirty="0" err="1"/>
              <a:t>קולונסקופיה</a:t>
            </a:r>
            <a:r>
              <a:rPr lang="he-IL" dirty="0"/>
              <a:t> דרך קבלן </a:t>
            </a:r>
            <a:endParaRPr lang="en-US" dirty="0"/>
          </a:p>
        </p:txBody>
      </p:sp>
      <p:sp>
        <p:nvSpPr>
          <p:cNvPr id="2" name="Footer Placeholder 1">
            <a:extLst>
              <a:ext uri="{FF2B5EF4-FFF2-40B4-BE49-F238E27FC236}">
                <a16:creationId xmlns:a16="http://schemas.microsoft.com/office/drawing/2014/main" id="{112C2180-B335-C528-4183-79A47ECAD817}"/>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Q14-15-TreatedOccuTherapist.png"/>
          <p:cNvPicPr>
            <a:picLocks noChangeAspect="1"/>
          </p:cNvPicPr>
          <p:nvPr/>
        </p:nvPicPr>
        <p:blipFill>
          <a:blip r:embed="rId2"/>
          <a:stretch>
            <a:fillRect/>
          </a:stretch>
        </p:blipFill>
        <p:spPr>
          <a:xfrm>
            <a:off x="457201" y="457200"/>
            <a:ext cx="3817088" cy="2937185"/>
          </a:xfrm>
          <a:prstGeom prst="rect">
            <a:avLst/>
          </a:prstGeom>
        </p:spPr>
      </p:pic>
      <p:pic>
        <p:nvPicPr>
          <p:cNvPr id="4" name="Picture 3" descr="Q14-15-TreatedPhysio.png">
            <a:extLst>
              <a:ext uri="{FF2B5EF4-FFF2-40B4-BE49-F238E27FC236}">
                <a16:creationId xmlns:a16="http://schemas.microsoft.com/office/drawing/2014/main" id="{8CD3AA41-AB96-EC62-C68C-1C9D46F30FCA}"/>
              </a:ext>
            </a:extLst>
          </p:cNvPr>
          <p:cNvPicPr>
            <a:picLocks noChangeAspect="1"/>
          </p:cNvPicPr>
          <p:nvPr/>
        </p:nvPicPr>
        <p:blipFill>
          <a:blip r:embed="rId3"/>
          <a:stretch>
            <a:fillRect/>
          </a:stretch>
        </p:blipFill>
        <p:spPr>
          <a:xfrm>
            <a:off x="4572000" y="457199"/>
            <a:ext cx="3817088" cy="2937185"/>
          </a:xfrm>
          <a:prstGeom prst="rect">
            <a:avLst/>
          </a:prstGeom>
        </p:spPr>
      </p:pic>
      <p:sp>
        <p:nvSpPr>
          <p:cNvPr id="5" name="TextBox 4">
            <a:extLst>
              <a:ext uri="{FF2B5EF4-FFF2-40B4-BE49-F238E27FC236}">
                <a16:creationId xmlns:a16="http://schemas.microsoft.com/office/drawing/2014/main" id="{DE008934-A1E6-D12A-426D-9AEC4131437A}"/>
              </a:ext>
            </a:extLst>
          </p:cNvPr>
          <p:cNvSpPr txBox="1"/>
          <p:nvPr/>
        </p:nvSpPr>
        <p:spPr>
          <a:xfrm>
            <a:off x="1297171" y="3943891"/>
            <a:ext cx="7091917" cy="2862322"/>
          </a:xfrm>
          <a:prstGeom prst="rect">
            <a:avLst/>
          </a:prstGeom>
          <a:noFill/>
        </p:spPr>
        <p:txBody>
          <a:bodyPr wrap="square" rtlCol="0">
            <a:spAutoFit/>
          </a:bodyPr>
          <a:lstStyle/>
          <a:p>
            <a:pPr marL="0" algn="r" defTabSz="457200" rtl="1" eaLnBrk="1" latinLnBrk="0" hangingPunct="1"/>
            <a:r>
              <a:rPr lang="he-IL" dirty="0"/>
              <a:t>בגילאי 0-4:</a:t>
            </a:r>
          </a:p>
          <a:p>
            <a:pPr marL="0" algn="r" defTabSz="457200" rtl="1" eaLnBrk="1" latinLnBrk="0" hangingPunct="1"/>
            <a:r>
              <a:rPr lang="he-IL" dirty="0"/>
              <a:t>פי 6.6 אבחון עם עיכוב תנועתי וטיפול בפיזיותרפיה בהפעלה ישירה מול קבלן</a:t>
            </a:r>
          </a:p>
          <a:p>
            <a:pPr algn="r" rtl="1"/>
            <a:r>
              <a:rPr lang="he-IL" dirty="0"/>
              <a:t>פי 5.8 אבחון עם עיכוב תנועתי וטיפול ריפוי בעיסוק בהפעלה ישירה מול קבלן</a:t>
            </a:r>
          </a:p>
          <a:p>
            <a:pPr algn="r" rtl="1"/>
            <a:r>
              <a:rPr lang="he-IL" dirty="0"/>
              <a:t>בין 0.5%-0.78% מהמבוטחים במרפאות קבלן מטופלים אצל מרפאה בעיסוק בעקבות אבחון עיכוב תנועתי, לעומת 3.4%-4% מהמבוטחים במרפאות בהפעלה ישירה.</a:t>
            </a:r>
          </a:p>
          <a:p>
            <a:pPr algn="r" rtl="1"/>
            <a:r>
              <a:rPr lang="he-IL"/>
              <a:t>בין 0.9% ל-1.3% מהמבוטחים במרפאות קבלן מטופלים אצל פיזיותרפיסטית בעקבות אבחון עיכוב תנועתי, לעומת 6.7%-8.3% מהמבוטחים במרפאות בהפעלה ישירה</a:t>
            </a:r>
            <a:endParaRPr lang="he-IL" dirty="0"/>
          </a:p>
          <a:p>
            <a:pPr marL="0" algn="r" defTabSz="457200" rtl="1" eaLnBrk="1" latinLnBrk="0" hangingPunct="1"/>
            <a:endParaRPr lang="en-US" dirty="0"/>
          </a:p>
        </p:txBody>
      </p:sp>
      <p:sp>
        <p:nvSpPr>
          <p:cNvPr id="3" name="Footer Placeholder 2">
            <a:extLst>
              <a:ext uri="{FF2B5EF4-FFF2-40B4-BE49-F238E27FC236}">
                <a16:creationId xmlns:a16="http://schemas.microsoft.com/office/drawing/2014/main" id="{05545FD4-89DF-E991-D055-432BDE919623}"/>
              </a:ext>
            </a:extLst>
          </p:cNvPr>
          <p:cNvSpPr>
            <a:spLocks noGrp="1"/>
          </p:cNvSpPr>
          <p:nvPr>
            <p:ph type="ftr" sz="quarter" idx="11"/>
          </p:nvPr>
        </p:nvSpPr>
        <p:spPr/>
        <p:txBody>
          <a:bodyPr/>
          <a:lstStyle/>
          <a:p>
            <a:r>
              <a:rPr lang="he-IL"/>
              <a:t>טיוטה-לא להפצה</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DEFCCD-F3B5-9526-A151-9AE5C191DBA9}"/>
              </a:ext>
            </a:extLst>
          </p:cNvPr>
          <p:cNvSpPr>
            <a:spLocks noGrp="1"/>
          </p:cNvSpPr>
          <p:nvPr>
            <p:ph type="title"/>
          </p:nvPr>
        </p:nvSpPr>
        <p:spPr>
          <a:xfrm>
            <a:off x="628650" y="365125"/>
            <a:ext cx="7886700" cy="1325563"/>
          </a:xfrm>
        </p:spPr>
        <p:txBody>
          <a:bodyPr vert="horz" lIns="91440" tIns="45720" rIns="91440" bIns="45720" rtlCol="0" anchor="ctr">
            <a:normAutofit/>
          </a:bodyPr>
          <a:lstStyle/>
          <a:p>
            <a:pPr algn="r" defTabSz="914400" rtl="1">
              <a:lnSpc>
                <a:spcPct val="90000"/>
              </a:lnSpc>
            </a:pPr>
            <a:r>
              <a:rPr lang="en-US" sz="4700" kern="1200" dirty="0" err="1">
                <a:solidFill>
                  <a:schemeClr val="tx1"/>
                </a:solidFill>
                <a:latin typeface="+mj-lt"/>
                <a:ea typeface="+mj-ea"/>
                <a:cs typeface="+mj-cs"/>
              </a:rPr>
              <a:t>תובנות</a:t>
            </a:r>
            <a:r>
              <a:rPr lang="en-US" sz="4700" kern="1200" dirty="0">
                <a:solidFill>
                  <a:schemeClr val="tx1"/>
                </a:solidFill>
                <a:latin typeface="+mj-lt"/>
                <a:ea typeface="+mj-ea"/>
                <a:cs typeface="+mj-cs"/>
              </a:rPr>
              <a:t>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86094EB-3776-B03A-AAEA-66EB48F525C2}"/>
              </a:ext>
            </a:extLst>
          </p:cNvPr>
          <p:cNvSpPr txBox="1"/>
          <p:nvPr/>
        </p:nvSpPr>
        <p:spPr>
          <a:xfrm>
            <a:off x="628650" y="1929384"/>
            <a:ext cx="7886700" cy="4251960"/>
          </a:xfrm>
          <a:prstGeom prst="rect">
            <a:avLst/>
          </a:prstGeom>
        </p:spPr>
        <p:txBody>
          <a:bodyPr vert="horz" lIns="91440" tIns="45720" rIns="91440" bIns="45720" rtlCol="0">
            <a:normAutofit/>
          </a:bodyPr>
          <a:lstStyle/>
          <a:p>
            <a:pPr marL="285750" indent="-228600" algn="r" defTabSz="914400" rtl="1">
              <a:lnSpc>
                <a:spcPct val="90000"/>
              </a:lnSpc>
              <a:spcAft>
                <a:spcPts val="600"/>
              </a:spcAft>
              <a:buFont typeface="Arial" panose="020B0604020202020204" pitchFamily="34" charset="0"/>
              <a:buChar char="•"/>
            </a:pPr>
            <a:r>
              <a:rPr lang="en-US" sz="1600" dirty="0" err="1"/>
              <a:t>למרות</a:t>
            </a:r>
            <a:r>
              <a:rPr lang="en-US" sz="1600" dirty="0"/>
              <a:t> </a:t>
            </a:r>
            <a:r>
              <a:rPr lang="en-US" sz="1600" dirty="0" err="1"/>
              <a:t>שמזרח</a:t>
            </a:r>
            <a:r>
              <a:rPr lang="en-US" sz="1600" dirty="0"/>
              <a:t> </a:t>
            </a:r>
            <a:r>
              <a:rPr lang="en-US" sz="1600" dirty="0" err="1"/>
              <a:t>ומערב</a:t>
            </a:r>
            <a:r>
              <a:rPr lang="en-US" sz="1600" dirty="0"/>
              <a:t> </a:t>
            </a:r>
            <a:r>
              <a:rPr lang="en-US" sz="1600" dirty="0" err="1"/>
              <a:t>ירושלים</a:t>
            </a:r>
            <a:r>
              <a:rPr lang="en-US" sz="1600" dirty="0"/>
              <a:t> )</a:t>
            </a:r>
            <a:r>
              <a:rPr lang="en-US" sz="1600" dirty="0" err="1"/>
              <a:t>מרפאות</a:t>
            </a:r>
            <a:r>
              <a:rPr lang="en-US" sz="1600" dirty="0"/>
              <a:t> </a:t>
            </a:r>
            <a:r>
              <a:rPr lang="en-US" sz="1600" dirty="0" err="1"/>
              <a:t>המופעלות</a:t>
            </a:r>
            <a:r>
              <a:rPr lang="en-US" sz="1600" dirty="0"/>
              <a:t> </a:t>
            </a:r>
            <a:r>
              <a:rPr lang="en-US" sz="1600" dirty="0" err="1"/>
              <a:t>על</a:t>
            </a:r>
            <a:r>
              <a:rPr lang="en-US" sz="1600" dirty="0"/>
              <a:t> </a:t>
            </a:r>
            <a:r>
              <a:rPr lang="en-US" sz="1600" dirty="0" err="1"/>
              <a:t>ידי</a:t>
            </a:r>
            <a:r>
              <a:rPr lang="en-US" sz="1600" dirty="0"/>
              <a:t> </a:t>
            </a:r>
            <a:r>
              <a:rPr lang="en-US" sz="1600" dirty="0" err="1"/>
              <a:t>ספק</a:t>
            </a:r>
            <a:r>
              <a:rPr lang="en-US" sz="1600" dirty="0"/>
              <a:t> </a:t>
            </a:r>
            <a:r>
              <a:rPr lang="en-US" sz="1600" dirty="0" err="1"/>
              <a:t>ובהפעלה</a:t>
            </a:r>
            <a:r>
              <a:rPr lang="en-US" sz="1600" dirty="0"/>
              <a:t> </a:t>
            </a:r>
            <a:r>
              <a:rPr lang="en-US" sz="1600" dirty="0" err="1"/>
              <a:t>ישרה</a:t>
            </a:r>
            <a:r>
              <a:rPr lang="en-US" sz="1600" dirty="0"/>
              <a:t>, </a:t>
            </a:r>
            <a:r>
              <a:rPr lang="en-US" sz="1600" dirty="0" err="1"/>
              <a:t>בהתאמה</a:t>
            </a:r>
            <a:r>
              <a:rPr lang="en-US" sz="1600" dirty="0"/>
              <a:t>( </a:t>
            </a:r>
            <a:r>
              <a:rPr lang="en-US" sz="1600" dirty="0" err="1"/>
              <a:t>נחשבים</a:t>
            </a:r>
            <a:r>
              <a:rPr lang="en-US" sz="1600" dirty="0"/>
              <a:t> </a:t>
            </a:r>
            <a:r>
              <a:rPr lang="en-US" sz="1600" dirty="0" err="1"/>
              <a:t>תחת</a:t>
            </a:r>
            <a:r>
              <a:rPr lang="en-US" sz="1600" dirty="0"/>
              <a:t> </a:t>
            </a:r>
            <a:r>
              <a:rPr lang="en-US" sz="1600" dirty="0" err="1"/>
              <a:t>אותה</a:t>
            </a:r>
            <a:r>
              <a:rPr lang="en-US" sz="1600" dirty="0"/>
              <a:t> </a:t>
            </a:r>
            <a:r>
              <a:rPr lang="en-US" sz="1600" dirty="0" err="1"/>
              <a:t>רשות</a:t>
            </a:r>
            <a:r>
              <a:rPr lang="en-US" sz="1600" dirty="0"/>
              <a:t> </a:t>
            </a:r>
            <a:r>
              <a:rPr lang="en-US" sz="1600" dirty="0" err="1"/>
              <a:t>מוניציפלית</a:t>
            </a:r>
            <a:r>
              <a:rPr lang="en-US" sz="1600" dirty="0"/>
              <a:t> </a:t>
            </a:r>
            <a:r>
              <a:rPr lang="en-US" sz="1600" dirty="0" err="1"/>
              <a:t>ואותו</a:t>
            </a:r>
            <a:r>
              <a:rPr lang="en-US" sz="1600" dirty="0"/>
              <a:t> </a:t>
            </a:r>
            <a:r>
              <a:rPr lang="en-US" sz="1600" dirty="0" err="1"/>
              <a:t>המחוז</a:t>
            </a:r>
            <a:r>
              <a:rPr lang="en-US" sz="1600" dirty="0"/>
              <a:t>, </a:t>
            </a:r>
            <a:r>
              <a:rPr lang="en-US" sz="1600" dirty="0" err="1"/>
              <a:t>בפועל</a:t>
            </a:r>
            <a:r>
              <a:rPr lang="en-US" sz="1600" dirty="0"/>
              <a:t> </a:t>
            </a:r>
            <a:r>
              <a:rPr lang="en-US" sz="1600" dirty="0" err="1"/>
              <a:t>ישנם</a:t>
            </a:r>
            <a:r>
              <a:rPr lang="en-US" sz="1600" dirty="0"/>
              <a:t> </a:t>
            </a:r>
            <a:r>
              <a:rPr lang="en-US" sz="1600" dirty="0" err="1"/>
              <a:t>פערים</a:t>
            </a:r>
            <a:r>
              <a:rPr lang="en-US" sz="1600" dirty="0"/>
              <a:t> </a:t>
            </a:r>
            <a:r>
              <a:rPr lang="en-US" sz="1600" dirty="0" err="1"/>
              <a:t>בשירותים</a:t>
            </a:r>
            <a:r>
              <a:rPr lang="en-US" sz="1600" dirty="0"/>
              <a:t> </a:t>
            </a:r>
            <a:r>
              <a:rPr lang="en-US" sz="1600" dirty="0" err="1"/>
              <a:t>הניתנים</a:t>
            </a:r>
            <a:r>
              <a:rPr lang="en-US" sz="1600" dirty="0"/>
              <a:t> </a:t>
            </a:r>
            <a:r>
              <a:rPr lang="en-US" sz="1600" dirty="0" err="1"/>
              <a:t>בהן</a:t>
            </a:r>
            <a:r>
              <a:rPr lang="en-US" sz="1600" dirty="0"/>
              <a:t> </a:t>
            </a:r>
            <a:r>
              <a:rPr lang="en-US" sz="1600" dirty="0" err="1"/>
              <a:t>אשר</a:t>
            </a:r>
            <a:r>
              <a:rPr lang="en-US" sz="1600" dirty="0"/>
              <a:t> </a:t>
            </a:r>
            <a:r>
              <a:rPr lang="en-US" sz="1600" dirty="0" err="1"/>
              <a:t>מצדיקים</a:t>
            </a:r>
            <a:r>
              <a:rPr lang="en-US" sz="1600" dirty="0"/>
              <a:t> </a:t>
            </a:r>
            <a:r>
              <a:rPr lang="en-US" sz="1600" dirty="0" err="1"/>
              <a:t>התייחסות</a:t>
            </a:r>
            <a:r>
              <a:rPr lang="en-US" sz="1600" dirty="0"/>
              <a:t> </a:t>
            </a:r>
            <a:r>
              <a:rPr lang="en-US" sz="1600" dirty="0" err="1"/>
              <a:t>דיפרנציאלית</a:t>
            </a:r>
            <a:r>
              <a:rPr lang="en-US" sz="1600" dirty="0"/>
              <a:t> </a:t>
            </a:r>
            <a:r>
              <a:rPr lang="en-US" sz="1600" dirty="0" err="1"/>
              <a:t>למרחבים</a:t>
            </a:r>
            <a:r>
              <a:rPr lang="en-US" sz="1600" dirty="0"/>
              <a:t> </a:t>
            </a:r>
            <a:r>
              <a:rPr lang="en-US" sz="1600" dirty="0" err="1"/>
              <a:t>אלו</a:t>
            </a:r>
            <a:r>
              <a:rPr lang="en-US" sz="1600" dirty="0"/>
              <a:t>, </a:t>
            </a:r>
            <a:r>
              <a:rPr lang="en-US" sz="1600" dirty="0" err="1"/>
              <a:t>הן</a:t>
            </a:r>
            <a:r>
              <a:rPr lang="en-US" sz="1600" dirty="0"/>
              <a:t> </a:t>
            </a:r>
            <a:r>
              <a:rPr lang="en-US" sz="1600" dirty="0" err="1"/>
              <a:t>בהתנהלות</a:t>
            </a:r>
            <a:r>
              <a:rPr lang="en-US" sz="1600" dirty="0"/>
              <a:t> </a:t>
            </a:r>
            <a:r>
              <a:rPr lang="en-US" sz="1600" dirty="0" err="1"/>
              <a:t>קופות</a:t>
            </a:r>
            <a:r>
              <a:rPr lang="en-US" sz="1600" dirty="0"/>
              <a:t> </a:t>
            </a:r>
            <a:r>
              <a:rPr lang="en-US" sz="1600" dirty="0" err="1"/>
              <a:t>החולים</a:t>
            </a:r>
            <a:r>
              <a:rPr lang="en-US" sz="1600" dirty="0"/>
              <a:t> </a:t>
            </a:r>
            <a:r>
              <a:rPr lang="en-US" sz="1600" dirty="0" err="1"/>
              <a:t>והן</a:t>
            </a:r>
            <a:r>
              <a:rPr lang="en-US" sz="1600" dirty="0"/>
              <a:t> </a:t>
            </a:r>
            <a:r>
              <a:rPr lang="en-US" sz="1600" dirty="0" err="1"/>
              <a:t>בהתנהלות</a:t>
            </a:r>
            <a:r>
              <a:rPr lang="en-US" sz="1600" dirty="0"/>
              <a:t> </a:t>
            </a:r>
            <a:r>
              <a:rPr lang="en-US" sz="1600" dirty="0" err="1"/>
              <a:t>משרד</a:t>
            </a:r>
            <a:r>
              <a:rPr lang="en-US" sz="1600" dirty="0"/>
              <a:t> </a:t>
            </a:r>
            <a:r>
              <a:rPr lang="en-US" sz="1600" dirty="0" err="1"/>
              <a:t>הבריאות</a:t>
            </a:r>
            <a:r>
              <a:rPr lang="en-US" sz="1600" dirty="0"/>
              <a:t> )</a:t>
            </a:r>
            <a:r>
              <a:rPr lang="en-US" sz="1600" dirty="0" err="1"/>
              <a:t>בקרות</a:t>
            </a:r>
            <a:r>
              <a:rPr lang="en-US" sz="1600" dirty="0"/>
              <a:t>, </a:t>
            </a:r>
            <a:r>
              <a:rPr lang="en-US" sz="1600" dirty="0" err="1"/>
              <a:t>תקצוב</a:t>
            </a:r>
            <a:r>
              <a:rPr lang="en-US" sz="1600" dirty="0"/>
              <a:t>, </a:t>
            </a:r>
            <a:r>
              <a:rPr lang="en-US" sz="1600" dirty="0" err="1"/>
              <a:t>תוכניות</a:t>
            </a:r>
            <a:r>
              <a:rPr lang="en-US" sz="1600" dirty="0"/>
              <a:t> </a:t>
            </a:r>
            <a:r>
              <a:rPr lang="en-US" sz="1600" dirty="0" err="1"/>
              <a:t>ייעודיות</a:t>
            </a:r>
            <a:r>
              <a:rPr lang="en-US" sz="1600" dirty="0"/>
              <a:t>.(</a:t>
            </a:r>
          </a:p>
          <a:p>
            <a:pPr marL="285750" indent="-228600" algn="r" defTabSz="914400" rtl="1">
              <a:lnSpc>
                <a:spcPct val="90000"/>
              </a:lnSpc>
              <a:spcAft>
                <a:spcPts val="600"/>
              </a:spcAft>
              <a:buFont typeface="Arial" panose="020B0604020202020204" pitchFamily="34" charset="0"/>
              <a:buChar char="•"/>
            </a:pPr>
            <a:r>
              <a:rPr lang="en-US" sz="1600" dirty="0" err="1"/>
              <a:t>גם</a:t>
            </a:r>
            <a:r>
              <a:rPr lang="en-US" sz="1600" dirty="0"/>
              <a:t> </a:t>
            </a:r>
            <a:r>
              <a:rPr lang="en-US" sz="1600" dirty="0" err="1"/>
              <a:t>בהנתן</a:t>
            </a:r>
            <a:r>
              <a:rPr lang="en-US" sz="1600" dirty="0"/>
              <a:t> </a:t>
            </a:r>
            <a:r>
              <a:rPr lang="en-US" sz="1600" dirty="0" err="1"/>
              <a:t>המצוקה</a:t>
            </a:r>
            <a:r>
              <a:rPr lang="en-US" sz="1600" dirty="0"/>
              <a:t> </a:t>
            </a:r>
            <a:r>
              <a:rPr lang="en-US" sz="1600" dirty="0" err="1"/>
              <a:t>הארצית</a:t>
            </a:r>
            <a:r>
              <a:rPr lang="en-US" sz="1600" dirty="0"/>
              <a:t> </a:t>
            </a:r>
            <a:r>
              <a:rPr lang="en-US" sz="1600" dirty="0" err="1"/>
              <a:t>הקיימת</a:t>
            </a:r>
            <a:r>
              <a:rPr lang="en-US" sz="1600" dirty="0"/>
              <a:t> </a:t>
            </a:r>
            <a:r>
              <a:rPr lang="en-US" sz="1600" dirty="0" err="1"/>
              <a:t>בשירותים</a:t>
            </a:r>
            <a:r>
              <a:rPr lang="en-US" sz="1600" dirty="0"/>
              <a:t> </a:t>
            </a:r>
            <a:r>
              <a:rPr lang="en-US" sz="1600" dirty="0" err="1"/>
              <a:t>בהתפתחות</a:t>
            </a:r>
            <a:r>
              <a:rPr lang="en-US" sz="1600" dirty="0"/>
              <a:t> </a:t>
            </a:r>
            <a:r>
              <a:rPr lang="en-US" sz="1600" dirty="0" err="1"/>
              <a:t>הילד</a:t>
            </a:r>
            <a:r>
              <a:rPr lang="en-US" sz="1600" dirty="0"/>
              <a:t>, </a:t>
            </a:r>
            <a:r>
              <a:rPr lang="en-US" sz="1600" dirty="0" err="1"/>
              <a:t>הפערים</a:t>
            </a:r>
            <a:r>
              <a:rPr lang="en-US" sz="1600" dirty="0"/>
              <a:t> </a:t>
            </a:r>
            <a:r>
              <a:rPr lang="en-US" sz="1600" dirty="0" err="1"/>
              <a:t>הניכרים</a:t>
            </a:r>
            <a:r>
              <a:rPr lang="en-US" sz="1600" dirty="0"/>
              <a:t> </a:t>
            </a:r>
            <a:r>
              <a:rPr lang="en-US" sz="1600" dirty="0" err="1"/>
              <a:t>בתחום</a:t>
            </a:r>
            <a:r>
              <a:rPr lang="en-US" sz="1600" dirty="0"/>
              <a:t> </a:t>
            </a:r>
            <a:r>
              <a:rPr lang="en-US" sz="1600" dirty="0" err="1"/>
              <a:t>זה</a:t>
            </a:r>
            <a:r>
              <a:rPr lang="en-US" sz="1600" dirty="0"/>
              <a:t> </a:t>
            </a:r>
            <a:r>
              <a:rPr lang="en-US" sz="1600" dirty="0" err="1"/>
              <a:t>במזרח</a:t>
            </a:r>
            <a:r>
              <a:rPr lang="en-US" sz="1600" dirty="0"/>
              <a:t> </a:t>
            </a:r>
            <a:r>
              <a:rPr lang="en-US" sz="1600" dirty="0" err="1"/>
              <a:t>ירושלים</a:t>
            </a:r>
            <a:r>
              <a:rPr lang="en-US" sz="1600" dirty="0"/>
              <a:t> </a:t>
            </a:r>
            <a:r>
              <a:rPr lang="en-US" sz="1600" dirty="0" err="1"/>
              <a:t>הם</a:t>
            </a:r>
            <a:r>
              <a:rPr lang="en-US" sz="1600" dirty="0"/>
              <a:t> </a:t>
            </a:r>
            <a:r>
              <a:rPr lang="en-US" sz="1600" dirty="0" err="1"/>
              <a:t>אקוטיים</a:t>
            </a:r>
            <a:r>
              <a:rPr lang="en-US" sz="1600" dirty="0"/>
              <a:t>, </a:t>
            </a:r>
            <a:r>
              <a:rPr lang="en-US" sz="1600" dirty="0" err="1"/>
              <a:t>במיוחד</a:t>
            </a:r>
            <a:r>
              <a:rPr lang="en-US" sz="1600" dirty="0"/>
              <a:t> </a:t>
            </a:r>
            <a:r>
              <a:rPr lang="en-US" sz="1600" dirty="0" err="1"/>
              <a:t>בנוגע</a:t>
            </a:r>
            <a:r>
              <a:rPr lang="en-US" sz="1600" dirty="0"/>
              <a:t> </a:t>
            </a:r>
            <a:r>
              <a:rPr lang="en-US" sz="1600" dirty="0" err="1"/>
              <a:t>לעיכוב</a:t>
            </a:r>
            <a:r>
              <a:rPr lang="en-US" sz="1600" dirty="0"/>
              <a:t> </a:t>
            </a:r>
            <a:r>
              <a:rPr lang="en-US" sz="1600" dirty="0" err="1"/>
              <a:t>שפתי</a:t>
            </a:r>
            <a:r>
              <a:rPr lang="en-US" sz="1600" dirty="0"/>
              <a:t> </a:t>
            </a:r>
            <a:r>
              <a:rPr lang="en-US" sz="1600" dirty="0" err="1"/>
              <a:t>ועיכוב</a:t>
            </a:r>
            <a:r>
              <a:rPr lang="en-US" sz="1600" dirty="0"/>
              <a:t> </a:t>
            </a:r>
            <a:r>
              <a:rPr lang="en-US" sz="1600" dirty="0" err="1"/>
              <a:t>תנועתי</a:t>
            </a:r>
            <a:r>
              <a:rPr lang="en-US" sz="1600" dirty="0"/>
              <a:t>. </a:t>
            </a:r>
          </a:p>
          <a:p>
            <a:pPr marL="285750" indent="-228600" algn="r" defTabSz="914400" rtl="1">
              <a:lnSpc>
                <a:spcPct val="90000"/>
              </a:lnSpc>
              <a:spcAft>
                <a:spcPts val="600"/>
              </a:spcAft>
              <a:buFont typeface="Arial" panose="020B0604020202020204" pitchFamily="34" charset="0"/>
              <a:buChar char="•"/>
            </a:pPr>
            <a:r>
              <a:rPr lang="en-US" sz="1600" dirty="0" err="1"/>
              <a:t>הביצוע</a:t>
            </a:r>
            <a:r>
              <a:rPr lang="en-US" sz="1600" dirty="0"/>
              <a:t> </a:t>
            </a:r>
            <a:r>
              <a:rPr lang="en-US" sz="1600" dirty="0" err="1"/>
              <a:t>הגבוה</a:t>
            </a:r>
            <a:r>
              <a:rPr lang="en-US" sz="1600" dirty="0"/>
              <a:t> </a:t>
            </a:r>
            <a:r>
              <a:rPr lang="en-US" sz="1600" dirty="0" err="1"/>
              <a:t>של</a:t>
            </a:r>
            <a:r>
              <a:rPr lang="en-US" sz="1600" dirty="0"/>
              <a:t> </a:t>
            </a:r>
            <a:r>
              <a:rPr lang="en-US" sz="1600" dirty="0" err="1"/>
              <a:t>בדיקות</a:t>
            </a:r>
            <a:r>
              <a:rPr lang="en-US" sz="1600" dirty="0"/>
              <a:t> </a:t>
            </a:r>
            <a:r>
              <a:rPr lang="en-US" sz="1600" dirty="0" err="1"/>
              <a:t>דם</a:t>
            </a:r>
            <a:r>
              <a:rPr lang="en-US" sz="1600" dirty="0"/>
              <a:t> </a:t>
            </a:r>
            <a:r>
              <a:rPr lang="en-US" sz="1600" dirty="0" err="1"/>
              <a:t>סמוי</a:t>
            </a:r>
            <a:r>
              <a:rPr lang="en-US" sz="1600" dirty="0"/>
              <a:t> </a:t>
            </a:r>
            <a:r>
              <a:rPr lang="en-US" sz="1600" dirty="0" err="1"/>
              <a:t>וקולונוסקפויה</a:t>
            </a:r>
            <a:r>
              <a:rPr lang="en-US" sz="1600" dirty="0"/>
              <a:t> </a:t>
            </a:r>
            <a:r>
              <a:rPr lang="en-US" sz="1600" dirty="0" err="1"/>
              <a:t>בעקבות</a:t>
            </a:r>
            <a:r>
              <a:rPr lang="en-US" sz="1600" dirty="0"/>
              <a:t> </a:t>
            </a:r>
            <a:r>
              <a:rPr lang="en-US" sz="1600" dirty="0" err="1"/>
              <a:t>דם</a:t>
            </a:r>
            <a:r>
              <a:rPr lang="en-US" sz="1600" dirty="0"/>
              <a:t> </a:t>
            </a:r>
            <a:r>
              <a:rPr lang="en-US" sz="1600" dirty="0" err="1"/>
              <a:t>סמוי</a:t>
            </a:r>
            <a:r>
              <a:rPr lang="en-US" sz="1600" dirty="0"/>
              <a:t> </a:t>
            </a:r>
            <a:r>
              <a:rPr lang="en-US" sz="1600" dirty="0" err="1"/>
              <a:t>במרפאות</a:t>
            </a:r>
            <a:r>
              <a:rPr lang="en-US" sz="1600" dirty="0"/>
              <a:t> </a:t>
            </a:r>
            <a:r>
              <a:rPr lang="en-US" sz="1600" dirty="0" err="1"/>
              <a:t>קבלן</a:t>
            </a:r>
            <a:r>
              <a:rPr lang="en-US" sz="1600" dirty="0"/>
              <a:t> </a:t>
            </a:r>
            <a:r>
              <a:rPr lang="en-US" sz="1600" dirty="0" err="1"/>
              <a:t>לעומת</a:t>
            </a:r>
            <a:r>
              <a:rPr lang="en-US" sz="1600" dirty="0"/>
              <a:t> </a:t>
            </a:r>
            <a:r>
              <a:rPr lang="en-US" sz="1600" dirty="0" err="1"/>
              <a:t>תת-ביצוע</a:t>
            </a:r>
            <a:r>
              <a:rPr lang="en-US" sz="1600" dirty="0"/>
              <a:t> </a:t>
            </a:r>
            <a:r>
              <a:rPr lang="en-US" sz="1600" dirty="0" err="1"/>
              <a:t>בבדיקת</a:t>
            </a:r>
            <a:r>
              <a:rPr lang="en-US" sz="1600" dirty="0"/>
              <a:t> </a:t>
            </a:r>
            <a:r>
              <a:rPr lang="en-US" sz="1600" dirty="0" err="1"/>
              <a:t>צפיפות</a:t>
            </a:r>
            <a:r>
              <a:rPr lang="en-US" sz="1600" dirty="0"/>
              <a:t> </a:t>
            </a:r>
            <a:r>
              <a:rPr lang="en-US" sz="1600" dirty="0" err="1"/>
              <a:t>העצם</a:t>
            </a:r>
            <a:r>
              <a:rPr lang="en-US" sz="1600" dirty="0"/>
              <a:t> </a:t>
            </a:r>
            <a:r>
              <a:rPr lang="en-US" sz="1600" dirty="0" err="1"/>
              <a:t>מצביעים</a:t>
            </a:r>
            <a:r>
              <a:rPr lang="en-US" sz="1600" dirty="0"/>
              <a:t> </a:t>
            </a:r>
            <a:r>
              <a:rPr lang="en-US" sz="1600" dirty="0" err="1"/>
              <a:t>על</a:t>
            </a:r>
            <a:r>
              <a:rPr lang="en-US" sz="1600" dirty="0"/>
              <a:t> </a:t>
            </a:r>
            <a:r>
              <a:rPr lang="en-US" sz="1600" dirty="0" err="1"/>
              <a:t>אפקט</a:t>
            </a:r>
            <a:r>
              <a:rPr lang="en-US" sz="1600" dirty="0"/>
              <a:t> </a:t>
            </a:r>
            <a:r>
              <a:rPr lang="en-US" sz="1600" dirty="0" err="1"/>
              <a:t>אפשרי</a:t>
            </a:r>
            <a:r>
              <a:rPr lang="en-US" sz="1600" dirty="0"/>
              <a:t> </a:t>
            </a:r>
            <a:r>
              <a:rPr lang="en-US" sz="1600" dirty="0" err="1"/>
              <a:t>של</a:t>
            </a:r>
            <a:r>
              <a:rPr lang="en-US" sz="1600" dirty="0"/>
              <a:t> </a:t>
            </a:r>
            <a:r>
              <a:rPr lang="en-US" sz="1600" dirty="0" err="1"/>
              <a:t>הימצאות</a:t>
            </a:r>
            <a:r>
              <a:rPr lang="en-US" sz="1600" dirty="0"/>
              <a:t> </a:t>
            </a:r>
            <a:r>
              <a:rPr lang="en-US" sz="1600" dirty="0" err="1"/>
              <a:t>בדיקות</a:t>
            </a:r>
            <a:r>
              <a:rPr lang="en-US" sz="1600" dirty="0"/>
              <a:t> </a:t>
            </a:r>
            <a:r>
              <a:rPr lang="en-US" sz="1600" dirty="0" err="1"/>
              <a:t>בתוכנית</a:t>
            </a:r>
            <a:r>
              <a:rPr lang="en-US" sz="1600" dirty="0"/>
              <a:t> </a:t>
            </a:r>
            <a:r>
              <a:rPr lang="en-US" sz="1600" dirty="0" err="1"/>
              <a:t>הלאומית</a:t>
            </a:r>
            <a:r>
              <a:rPr lang="en-US" sz="1600" dirty="0"/>
              <a:t> </a:t>
            </a:r>
            <a:r>
              <a:rPr lang="en-US" sz="1600" dirty="0" err="1"/>
              <a:t>למדדי</a:t>
            </a:r>
            <a:r>
              <a:rPr lang="en-US" sz="1600" dirty="0"/>
              <a:t> </a:t>
            </a:r>
            <a:r>
              <a:rPr lang="en-US" sz="1600" dirty="0" err="1"/>
              <a:t>איכות</a:t>
            </a:r>
            <a:r>
              <a:rPr lang="en-US" sz="1600" dirty="0"/>
              <a:t> </a:t>
            </a:r>
            <a:r>
              <a:rPr lang="en-US" sz="1600" dirty="0" err="1"/>
              <a:t>בבריאות</a:t>
            </a:r>
            <a:r>
              <a:rPr lang="en-US" sz="1600" dirty="0"/>
              <a:t> </a:t>
            </a:r>
            <a:r>
              <a:rPr lang="en-US" sz="1600" dirty="0" err="1"/>
              <a:t>בקהילה</a:t>
            </a:r>
            <a:r>
              <a:rPr lang="en-US" sz="1600" dirty="0"/>
              <a:t>.</a:t>
            </a:r>
          </a:p>
          <a:p>
            <a:pPr marL="285750" indent="-228600" algn="r" defTabSz="914400" rtl="1">
              <a:lnSpc>
                <a:spcPct val="90000"/>
              </a:lnSpc>
              <a:spcAft>
                <a:spcPts val="600"/>
              </a:spcAft>
              <a:buFont typeface="Arial" panose="020B0604020202020204" pitchFamily="34" charset="0"/>
              <a:buChar char="•"/>
            </a:pPr>
            <a:r>
              <a:rPr lang="en-US" sz="1600" dirty="0" err="1"/>
              <a:t>הנתונים</a:t>
            </a:r>
            <a:r>
              <a:rPr lang="en-US" sz="1600" dirty="0"/>
              <a:t> </a:t>
            </a:r>
            <a:r>
              <a:rPr lang="en-US" sz="1600" dirty="0" err="1"/>
              <a:t>בנוגע</a:t>
            </a:r>
            <a:r>
              <a:rPr lang="en-US" sz="1600" dirty="0"/>
              <a:t> </a:t>
            </a:r>
            <a:r>
              <a:rPr lang="en-US" sz="1600" dirty="0" err="1"/>
              <a:t>להחזרים</a:t>
            </a:r>
            <a:r>
              <a:rPr lang="en-US" sz="1600" dirty="0"/>
              <a:t> </a:t>
            </a:r>
            <a:r>
              <a:rPr lang="en-US" sz="1600" dirty="0" err="1"/>
              <a:t>על</a:t>
            </a:r>
            <a:r>
              <a:rPr lang="en-US" sz="1600" dirty="0"/>
              <a:t> </a:t>
            </a:r>
            <a:r>
              <a:rPr lang="en-US" sz="1600" dirty="0" err="1"/>
              <a:t>ספק</a:t>
            </a:r>
            <a:r>
              <a:rPr lang="en-US" sz="1600" dirty="0"/>
              <a:t> </a:t>
            </a:r>
            <a:r>
              <a:rPr lang="en-US" sz="1600" dirty="0" err="1"/>
              <a:t>פרטי</a:t>
            </a:r>
            <a:r>
              <a:rPr lang="en-US" sz="1600" dirty="0"/>
              <a:t> </a:t>
            </a:r>
            <a:r>
              <a:rPr lang="en-US" sz="1600" dirty="0" err="1"/>
              <a:t>בקלינאות</a:t>
            </a:r>
            <a:r>
              <a:rPr lang="en-US" sz="1600" dirty="0"/>
              <a:t> </a:t>
            </a:r>
            <a:r>
              <a:rPr lang="en-US" sz="1600" dirty="0" err="1"/>
              <a:t>תקשורת</a:t>
            </a:r>
            <a:r>
              <a:rPr lang="en-US" sz="1600" dirty="0"/>
              <a:t> </a:t>
            </a:r>
            <a:r>
              <a:rPr lang="en-US" sz="1600" dirty="0" err="1"/>
              <a:t>ובעיקר</a:t>
            </a:r>
            <a:r>
              <a:rPr lang="en-US" sz="1600" dirty="0"/>
              <a:t> </a:t>
            </a:r>
            <a:r>
              <a:rPr lang="en-US" sz="1600" dirty="0" err="1"/>
              <a:t>על</a:t>
            </a:r>
            <a:r>
              <a:rPr lang="en-US" sz="1600" dirty="0"/>
              <a:t> </a:t>
            </a:r>
            <a:r>
              <a:rPr lang="en-US" sz="1600" dirty="0" err="1"/>
              <a:t>מספר</a:t>
            </a:r>
            <a:r>
              <a:rPr lang="en-US" sz="1600" dirty="0"/>
              <a:t> </a:t>
            </a:r>
            <a:r>
              <a:rPr lang="en-US" sz="1600" dirty="0" err="1"/>
              <a:t>המפגשים</a:t>
            </a:r>
            <a:r>
              <a:rPr lang="en-US" sz="1600" dirty="0"/>
              <a:t> </a:t>
            </a:r>
            <a:r>
              <a:rPr lang="en-US" sz="1600" dirty="0" err="1"/>
              <a:t>פר</a:t>
            </a:r>
            <a:r>
              <a:rPr lang="en-US" sz="1600" dirty="0"/>
              <a:t> </a:t>
            </a:r>
            <a:r>
              <a:rPr lang="en-US" sz="1600" dirty="0" err="1"/>
              <a:t>מטופל</a:t>
            </a:r>
            <a:r>
              <a:rPr lang="en-US" sz="1600" dirty="0"/>
              <a:t> </a:t>
            </a:r>
            <a:r>
              <a:rPr lang="en-US" sz="1600" dirty="0" err="1"/>
              <a:t>מתכתבים</a:t>
            </a:r>
            <a:r>
              <a:rPr lang="en-US" sz="1600" dirty="0"/>
              <a:t> </a:t>
            </a:r>
            <a:r>
              <a:rPr lang="en-US" sz="1600" dirty="0" err="1"/>
              <a:t>עם</a:t>
            </a:r>
            <a:r>
              <a:rPr lang="en-US" sz="1600" dirty="0"/>
              <a:t> </a:t>
            </a:r>
            <a:r>
              <a:rPr lang="en-US" sz="1600" dirty="0" err="1"/>
              <a:t>המציאות</a:t>
            </a:r>
            <a:r>
              <a:rPr lang="en-US" sz="1600" dirty="0"/>
              <a:t> </a:t>
            </a:r>
            <a:r>
              <a:rPr lang="en-US" sz="1600" dirty="0" err="1"/>
              <a:t>המוכרת</a:t>
            </a:r>
            <a:r>
              <a:rPr lang="en-US" sz="1600" dirty="0"/>
              <a:t> </a:t>
            </a:r>
            <a:r>
              <a:rPr lang="en-US" sz="1600" dirty="0" err="1"/>
              <a:t>בשטח</a:t>
            </a:r>
            <a:r>
              <a:rPr lang="en-US" sz="1600" dirty="0"/>
              <a:t> </a:t>
            </a:r>
            <a:r>
              <a:rPr lang="en-US" sz="1600" dirty="0" err="1"/>
              <a:t>לגבי</a:t>
            </a:r>
            <a:r>
              <a:rPr lang="en-US" sz="1600" dirty="0"/>
              <a:t> </a:t>
            </a:r>
            <a:r>
              <a:rPr lang="en-US" sz="1600" dirty="0" err="1"/>
              <a:t>היעד</a:t>
            </a:r>
            <a:r>
              <a:rPr lang="en-US" sz="1600" dirty="0"/>
              <a:t> </a:t>
            </a:r>
            <a:r>
              <a:rPr lang="en-US" sz="1600" dirty="0" err="1"/>
              <a:t>מטפלים</a:t>
            </a:r>
            <a:r>
              <a:rPr lang="en-US" sz="1600" dirty="0"/>
              <a:t> </a:t>
            </a:r>
            <a:r>
              <a:rPr lang="en-US" sz="1600" dirty="0" err="1"/>
              <a:t>בערבית</a:t>
            </a:r>
            <a:r>
              <a:rPr lang="en-US" sz="1600" dirty="0"/>
              <a:t>, </a:t>
            </a:r>
            <a:r>
              <a:rPr lang="en-US" sz="1600" dirty="0" err="1"/>
              <a:t>הימנעות</a:t>
            </a:r>
            <a:r>
              <a:rPr lang="en-US" sz="1600" dirty="0"/>
              <a:t> </a:t>
            </a:r>
            <a:r>
              <a:rPr lang="en-US" sz="1600" dirty="0" err="1"/>
              <a:t>של</a:t>
            </a:r>
            <a:r>
              <a:rPr lang="en-US" sz="1600" dirty="0"/>
              <a:t> </a:t>
            </a:r>
            <a:r>
              <a:rPr lang="en-US" sz="1600" dirty="0" err="1"/>
              <a:t>מרפאות</a:t>
            </a:r>
            <a:r>
              <a:rPr lang="en-US" sz="1600" dirty="0"/>
              <a:t> </a:t>
            </a:r>
            <a:r>
              <a:rPr lang="en-US" sz="1600" dirty="0" err="1"/>
              <a:t>קבלן</a:t>
            </a:r>
            <a:r>
              <a:rPr lang="en-US" sz="1600" dirty="0"/>
              <a:t> </a:t>
            </a:r>
            <a:r>
              <a:rPr lang="en-US" sz="1600" dirty="0" err="1"/>
              <a:t>מהפניה</a:t>
            </a:r>
            <a:r>
              <a:rPr lang="en-US" sz="1600" dirty="0"/>
              <a:t> </a:t>
            </a:r>
            <a:r>
              <a:rPr lang="en-US" sz="1600" dirty="0" err="1"/>
              <a:t>לספקים</a:t>
            </a:r>
            <a:r>
              <a:rPr lang="en-US" sz="1600" dirty="0"/>
              <a:t> </a:t>
            </a:r>
            <a:r>
              <a:rPr lang="en-US" sz="1600" dirty="0" err="1"/>
              <a:t>פרטיים</a:t>
            </a:r>
            <a:r>
              <a:rPr lang="en-US" sz="1600" dirty="0"/>
              <a:t>, </a:t>
            </a:r>
            <a:r>
              <a:rPr lang="en-US" sz="1600" dirty="0" err="1"/>
              <a:t>ושימוש</a:t>
            </a:r>
            <a:r>
              <a:rPr lang="en-US" sz="1600" dirty="0"/>
              <a:t> </a:t>
            </a:r>
            <a:r>
              <a:rPr lang="en-US" sz="1600" dirty="0" err="1"/>
              <a:t>בפרוטוקולי</a:t>
            </a:r>
            <a:r>
              <a:rPr lang="en-US" sz="1600" dirty="0"/>
              <a:t> </a:t>
            </a:r>
            <a:r>
              <a:rPr lang="en-US" sz="1600" dirty="0" err="1"/>
              <a:t>טיפולים</a:t>
            </a:r>
            <a:r>
              <a:rPr lang="en-US" sz="1600" dirty="0"/>
              <a:t> </a:t>
            </a:r>
            <a:r>
              <a:rPr lang="en-US" sz="1600" dirty="0" err="1"/>
              <a:t>שונים</a:t>
            </a:r>
            <a:r>
              <a:rPr lang="en-US" sz="1600" dirty="0"/>
              <a:t> </a:t>
            </a:r>
            <a:r>
              <a:rPr lang="en-US" sz="1600" dirty="0" err="1"/>
              <a:t>מאלו</a:t>
            </a:r>
            <a:r>
              <a:rPr lang="en-US" sz="1600" dirty="0"/>
              <a:t> </a:t>
            </a:r>
            <a:r>
              <a:rPr lang="en-US" sz="1600" dirty="0" err="1"/>
              <a:t>הנהוגים</a:t>
            </a:r>
            <a:r>
              <a:rPr lang="en-US" sz="1600" dirty="0"/>
              <a:t> </a:t>
            </a:r>
            <a:r>
              <a:rPr lang="en-US" sz="1600" dirty="0" err="1"/>
              <a:t>במערב</a:t>
            </a:r>
            <a:r>
              <a:rPr lang="en-US" sz="1600" dirty="0"/>
              <a:t> </a:t>
            </a:r>
            <a:r>
              <a:rPr lang="en-US" sz="1600" dirty="0" err="1"/>
              <a:t>ירושלים</a:t>
            </a:r>
            <a:r>
              <a:rPr lang="en-US" sz="1600" dirty="0"/>
              <a:t>.</a:t>
            </a:r>
          </a:p>
          <a:p>
            <a:pPr marL="285750" indent="-228600" algn="r" defTabSz="914400" rtl="1">
              <a:lnSpc>
                <a:spcPct val="90000"/>
              </a:lnSpc>
              <a:spcAft>
                <a:spcPts val="600"/>
              </a:spcAft>
              <a:buFont typeface="Arial" panose="020B0604020202020204" pitchFamily="34" charset="0"/>
              <a:buChar char="•"/>
            </a:pPr>
            <a:r>
              <a:rPr lang="en-US" sz="1600" dirty="0" err="1"/>
              <a:t>הנתונים</a:t>
            </a:r>
            <a:r>
              <a:rPr lang="en-US" sz="1600" dirty="0"/>
              <a:t> </a:t>
            </a:r>
            <a:r>
              <a:rPr lang="en-US" sz="1600" dirty="0" err="1"/>
              <a:t>על</a:t>
            </a:r>
            <a:r>
              <a:rPr lang="en-US" sz="1600" dirty="0"/>
              <a:t> </a:t>
            </a:r>
            <a:r>
              <a:rPr lang="en-US" sz="1600" dirty="0" err="1"/>
              <a:t>הפניות</a:t>
            </a:r>
            <a:r>
              <a:rPr lang="en-US" sz="1600" dirty="0"/>
              <a:t> </a:t>
            </a:r>
            <a:r>
              <a:rPr lang="en-US" sz="1600" dirty="0" err="1"/>
              <a:t>לחדרי</a:t>
            </a:r>
            <a:r>
              <a:rPr lang="en-US" sz="1600" dirty="0"/>
              <a:t> </a:t>
            </a:r>
            <a:r>
              <a:rPr lang="en-US" sz="1600" dirty="0" err="1"/>
              <a:t>מיון</a:t>
            </a:r>
            <a:r>
              <a:rPr lang="en-US" sz="1600" dirty="0"/>
              <a:t> </a:t>
            </a:r>
            <a:r>
              <a:rPr lang="en-US" sz="1600" dirty="0" err="1"/>
              <a:t>מצביעים</a:t>
            </a:r>
            <a:r>
              <a:rPr lang="en-US" sz="1600" dirty="0"/>
              <a:t> </a:t>
            </a:r>
            <a:r>
              <a:rPr lang="en-US" sz="1600" dirty="0" err="1"/>
              <a:t>על</a:t>
            </a:r>
            <a:r>
              <a:rPr lang="en-US" sz="1600" dirty="0"/>
              <a:t> </a:t>
            </a:r>
            <a:r>
              <a:rPr lang="en-US" sz="1600" dirty="0" err="1"/>
              <a:t>היעדר</a:t>
            </a:r>
            <a:r>
              <a:rPr lang="en-US" sz="1600" dirty="0"/>
              <a:t> </a:t>
            </a:r>
            <a:r>
              <a:rPr lang="en-US" sz="1600" dirty="0" err="1"/>
              <a:t>מענה</a:t>
            </a:r>
            <a:r>
              <a:rPr lang="en-US" sz="1600" dirty="0"/>
              <a:t> </a:t>
            </a:r>
            <a:r>
              <a:rPr lang="en-US" sz="1600" dirty="0" err="1"/>
              <a:t>הולם</a:t>
            </a:r>
            <a:r>
              <a:rPr lang="en-US" sz="1600" dirty="0"/>
              <a:t> </a:t>
            </a:r>
            <a:r>
              <a:rPr lang="en-US" sz="1600" dirty="0" err="1"/>
              <a:t>ברפואה</a:t>
            </a:r>
            <a:r>
              <a:rPr lang="en-US" sz="1600" dirty="0"/>
              <a:t> </a:t>
            </a:r>
            <a:r>
              <a:rPr lang="en-US" sz="1600" dirty="0" err="1"/>
              <a:t>ראשונית</a:t>
            </a:r>
            <a:r>
              <a:rPr lang="en-US" sz="1600" dirty="0"/>
              <a:t> </a:t>
            </a:r>
            <a:r>
              <a:rPr lang="en-US" sz="1600" dirty="0" err="1"/>
              <a:t>במרפאות</a:t>
            </a:r>
            <a:r>
              <a:rPr lang="en-US" sz="1600" dirty="0"/>
              <a:t> </a:t>
            </a:r>
            <a:r>
              <a:rPr lang="en-US" sz="1600" dirty="0" err="1"/>
              <a:t>מזרח</a:t>
            </a:r>
            <a:r>
              <a:rPr lang="en-US" sz="1600" dirty="0"/>
              <a:t> </a:t>
            </a:r>
            <a:r>
              <a:rPr lang="en-US" sz="1600" dirty="0" err="1"/>
              <a:t>ירושלים</a:t>
            </a:r>
            <a:r>
              <a:rPr lang="en-US" sz="1600" dirty="0"/>
              <a:t>. </a:t>
            </a:r>
          </a:p>
        </p:txBody>
      </p:sp>
      <p:sp>
        <p:nvSpPr>
          <p:cNvPr id="4" name="Footer Placeholder 3">
            <a:extLst>
              <a:ext uri="{FF2B5EF4-FFF2-40B4-BE49-F238E27FC236}">
                <a16:creationId xmlns:a16="http://schemas.microsoft.com/office/drawing/2014/main" id="{A0525EB1-ED11-EB01-B78D-978982243120}"/>
              </a:ext>
            </a:extLst>
          </p:cNvPr>
          <p:cNvSpPr>
            <a:spLocks noGrp="1"/>
          </p:cNvSpPr>
          <p:nvPr>
            <p:ph type="ftr" sz="quarter" idx="11"/>
          </p:nvPr>
        </p:nvSpPr>
        <p:spPr/>
        <p:txBody>
          <a:bodyPr/>
          <a:lstStyle/>
          <a:p>
            <a:r>
              <a:rPr lang="he-IL"/>
              <a:t>טיוטה-לא להפצה</a:t>
            </a:r>
            <a:endParaRPr lang="en-US"/>
          </a:p>
        </p:txBody>
      </p:sp>
    </p:spTree>
    <p:extLst>
      <p:ext uri="{BB962C8B-B14F-4D97-AF65-F5344CB8AC3E}">
        <p14:creationId xmlns:p14="http://schemas.microsoft.com/office/powerpoint/2010/main" val="1963142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1087</TotalTime>
  <Words>1102</Words>
  <Application>Microsoft Office PowerPoint</Application>
  <PresentationFormat>On-screen Show (4:3)</PresentationFormat>
  <Paragraphs>142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Calibri</vt:lpstr>
      <vt:lpstr>Office Theme</vt:lpstr>
      <vt:lpstr>מצב שירותי הרפואה בקהילה במזרח מול מערב ירושלים </vt:lpstr>
      <vt:lpstr>הפעלה ישירה וזכיינות במספרים</vt:lpstr>
      <vt:lpstr>הפעלה ישירה וזכיינות במספרים</vt:lpstr>
      <vt:lpstr>הפעלה ישירה וזכיינות במספרים</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תובנות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yael assor</cp:lastModifiedBy>
  <cp:revision>16</cp:revision>
  <dcterms:created xsi:type="dcterms:W3CDTF">2013-01-27T09:14:16Z</dcterms:created>
  <dcterms:modified xsi:type="dcterms:W3CDTF">2025-05-08T12:24:43Z</dcterms:modified>
  <cp:category/>
</cp:coreProperties>
</file>